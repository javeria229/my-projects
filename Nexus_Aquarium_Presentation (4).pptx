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f6c8c9-b6b3-231d-a0e8-6907b184d8e3}">
          <p14:sldIdLst>
            <p14:sldId id="256"/>
            <p14:sldId id="257"/>
            <p14:sldId id="258"/>
          </p14:sldIdLst>
        </p14:section>
        <p14:section name="How we built it" id="{9e855e35-b93f-30cd-c5f5-8d1c51e569aa}">
          <p14:sldIdLst>
            <p14:sldId id="259"/>
            <p14:sldId id="260"/>
            <p14:sldId id="261"/>
            <p14:sldId id="262"/>
          </p14:sldIdLst>
        </p14:section>
        <p14:section name="Features" id="{d76bc919-0cee-1833-342a-2a107e80c44a}">
          <p14:sldIdLst>
            <p14:sldId id="263"/>
            <p14:sldId id="264"/>
            <p14:sldId id="265"/>
            <p14:sldId id="266"/>
            <p14:sldId id="267"/>
          </p14:sldIdLst>
        </p14:section>
        <p14:section name="Wrap-up" id="{52e3d386-9822-458e-f52f-5dddd7389652}">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Javeria, Hira and Manahil. Today we will present our project, Nexus Aquarium, a demo website for an aquarium in Washington. First I will show what the website has, then how we built it, and at the end the problems we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Nexus Aquarium is a demo website for an imaginary aquarium. We made it to practise real web development. A visitor can see sea creatures, check opening times, read about events and try to book tickets. Because it is a demo, nothing on it is real or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seven pages: Home, Gallery, Marine Life, Visit, Events, Book Now and Feedback. The menu at the top and the footer stay on every page. Technically, all pages are inside one HTML file and JavaScript shows one page at a time, so the site feels fast and never reloads.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use any framework. HTML builds the structure, CSS gives the look, and JavaScript makes things work. We also used Three.js for the 3D fish, Google Fonts for text styles, and an SVG logo, photos and a looping video for the visuals.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theme is the ocean at night. The background is deep teal, the text is light aqua, and orange is used for buttons so they stand out. Our logo uses the same teal and orange: a white N on a teal circle with an orange wave. All colors are saved as CSS variables, so we can change the whole theme from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website in six steps. First we planned the pages and shared the work. Second we chose colors, fonts and the logo. Third we wrote the HTML. Fourth we styled it with CSS. Fifth we added JavaScript for the interactive parts. Last, we added the video and 3D fish, then tested on phone and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works on every screen size. On phones the menu becomes a Menu button and the columns stack into one. For accessibility we added alt text, a clear focus outline for keyboard users, readable error messages in the form, and we switch off animations for people who prefer reduced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A full-screen video plays in the background with a dark layer so the text is easy to read. On top are the logo, the title and two buttons. Below the wave shape there are photos of a jellyfish, sea turtle, coral reef and octopus, and three info boxes for location, hours and new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Gallery has nine photos with filter buttons: All, Sea creatures and Aquarium. The Marine Life page has a table of ten newly described species from 2024 and 2025, with name, scientific name, definition, scientists and year. Both pages are created by JavaScript from simple lists, so adding a new photo or species takes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information pages. Visit shows opening hours, ticket prices and places to see nearby. Events has two separate tables, one for adults and one for children, with day, time, details and price. Feedback shows five sample reviews and JavaScript calculates the average rating, which is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booking form checks every field before it confirms. The name must be letters only, the email and phone must be valid, the date cannot be in the past or on a Monday because we are closed, and the terms box must be ticked. The total price updates live: adults are 18 dollars and children are 10 dollars. At the end the user gets a reference code. No payment is taken because this is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favourite part, the 3D hologram fish made with Three.js. It has a glowing cyan and gold look and follows your mouse or finger. When you touch it, it spins, flashes and releases bubbles. If the device cannot run 3D, or the user prefers less motion, it switches itself off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faced some problems while building. The background video was hidden behind the page color, so we fixed the layers. Some image names had spaces, so we encoded them. If a photo is missing, a neat placeholder shows instead of a broken icon. And browsers block autoplay video, so we mute the video and retry playing it with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what this demo is: navigation, filters, the 3D fish and the form checks really work. But no payment is taken, no email is sent, the reviews are sample reviews and bookings are not saved. In future we can add a backend with a database, online payment, live ticket availability and real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That was Nexus Aquarium.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41B1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4572000" cy="118872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41B1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498080" cy="777240"/>
          </a:xfrm>
          <a:prstGeom prst="rect">
            <a:avLst/>
          </a:prstGeom>
          <a:noFill/>
          <a:ln/>
        </p:spPr>
        <p:txBody>
          <a:bodyPr wrap="square" rtlCol="0"/>
          <a:lstStyle>
            <a:lvl1pPr algn="l" indent="0" marL="0">
              <a:buNone/>
              <a:defRPr lang="en-US" sz="3600" b="1" dirty="0">
                <a:solidFill>
                  <a:schemeClr val="accent3"/>
                </a:solidFill>
              </a:defRPr>
            </a:lvl1pPr>
          </a:lstStyle>
          <a:p>
            <a:pPr algn="l" indent="0" marL="0">
              <a:buNone/>
            </a:pPr>
            <a:endParaRPr lang="en-US" sz="3600" dirty="0"/>
          </a:p>
        </p:txBody>
      </p:sp>
      <p:pic>
        <p:nvPicPr>
          <p:cNvPr id="3" name="Image 0" descr="preencoded.png">    </p:cNvPr>
          <p:cNvPicPr>
            <a:picLocks noChangeAspect="1"/>
          </p:cNvPicPr>
          <p:nvPr/>
        </p:nvPicPr>
        <p:blipFill>
          <a:blip r:embed="rId1"/>
          <a:stretch>
            <a:fillRect/>
          </a:stretch>
        </p:blipFill>
        <p:spPr>
          <a:xfrm>
            <a:off x="8229600" y="320040"/>
            <a:ext cx="457200" cy="457200"/>
          </a:xfrm>
          <a:prstGeom prst="rect">
            <a:avLst/>
          </a:prstGeom>
        </p:spPr>
      </p:pic>
      <p:sp>
        <p:nvSpPr>
          <p:cNvPr id="4"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tx2"/>
                </a:solidFill>
              </a:rPr>
              <a:t>Nexus Aquarium  |  Website Project</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640080" y="1371600"/>
            <a:ext cx="4572000" cy="1188720"/>
          </a:xfrm>
          <a:prstGeom prst="rect">
            <a:avLst/>
          </a:prstGeom>
          <a:noFill/>
          <a:ln/>
        </p:spPr>
        <p:txBody>
          <a:bodyPr wrap="square" lIns="0" tIns="0" rIns="0" bIns="0" rtlCol="0" anchor="ctr"/>
          <a:lstStyle/>
          <a:p>
            <a:pPr algn="l" indent="0" marL="0">
              <a:buNone/>
            </a:pPr>
            <a:r>
              <a:rPr lang="en-US" sz="4800" b="1" dirty="0">
                <a:solidFill>
                  <a:schemeClr val="tx1"/>
                </a:solidFill>
              </a:rPr>
              <a:t>Nexus Aquarium</a:t>
            </a:r>
            <a:endParaRPr lang="en-US" sz="4800" dirty="0"/>
          </a:p>
        </p:txBody>
      </p:sp>
      <p:sp>
        <p:nvSpPr>
          <p:cNvPr id="4" name="Logo halo"/>
          <p:cNvSpPr/>
          <p:nvPr/>
        </p:nvSpPr>
        <p:spPr>
          <a:xfrm>
            <a:off x="5394960" y="777240"/>
            <a:ext cx="3566160" cy="3566160"/>
          </a:xfrm>
          <a:prstGeom prst="ellipse">
            <a:avLst/>
          </a:prstGeom>
          <a:solidFill>
            <a:schemeClr val="accent5"/>
          </a:solidFill>
          <a:ln w="12700">
            <a:solidFill>
              <a:schemeClr val="accent4"/>
            </a:solidFill>
            <a:prstDash val="solid"/>
          </a:ln>
        </p:spPr>
      </p:sp>
      <p:pic>
        <p:nvPicPr>
          <p:cNvPr id="5" name="Nexus Aquarium logo" descr="Nexus Aquarium logo">    </p:cNvPr>
          <p:cNvPicPr>
            <a:picLocks noChangeAspect="1"/>
          </p:cNvPicPr>
          <p:nvPr/>
        </p:nvPicPr>
        <p:blipFill>
          <a:blip r:embed="rId1"/>
          <a:stretch>
            <a:fillRect/>
          </a:stretch>
        </p:blipFill>
        <p:spPr>
          <a:xfrm>
            <a:off x="5852160" y="1234440"/>
            <a:ext cx="2651760" cy="2651760"/>
          </a:xfrm>
          <a:prstGeom prst="rect">
            <a:avLst/>
          </a:prstGeom>
        </p:spPr>
      </p:pic>
      <p:sp>
        <p:nvSpPr>
          <p:cNvPr id="6" name="Body Website Project Pres"/>
          <p:cNvSpPr txBox="1"/>
          <p:nvPr/>
        </p:nvSpPr>
        <p:spPr>
          <a:xfrm>
            <a:off x="640080" y="2697480"/>
            <a:ext cx="4572000" cy="365760"/>
          </a:xfrm>
          <a:prstGeom prst="rect">
            <a:avLst/>
          </a:prstGeom>
          <a:noFill/>
          <a:ln/>
        </p:spPr>
        <p:txBody>
          <a:bodyPr wrap="square" lIns="0" tIns="0" rIns="0" bIns="0" rtlCol="0" anchor="t"/>
          <a:lstStyle/>
          <a:p>
            <a:pPr indent="0" marL="0">
              <a:buNone/>
            </a:pPr>
            <a:r>
              <a:rPr lang="en-US" sz="2000" b="1" dirty="0">
                <a:solidFill>
                  <a:schemeClr val="accent2"/>
                </a:solidFill>
              </a:rPr>
              <a:t>Website Project Presentation</a:t>
            </a:r>
            <a:endParaRPr lang="en-US" sz="2000" dirty="0"/>
          </a:p>
        </p:txBody>
      </p:sp>
      <p:sp>
        <p:nvSpPr>
          <p:cNvPr id="7" name="Body How we designed and "/>
          <p:cNvSpPr txBox="1"/>
          <p:nvPr/>
        </p:nvSpPr>
        <p:spPr>
          <a:xfrm>
            <a:off x="640080" y="3108960"/>
            <a:ext cx="4389120" cy="640080"/>
          </a:xfrm>
          <a:prstGeom prst="rect">
            <a:avLst/>
          </a:prstGeom>
          <a:noFill/>
          <a:ln/>
        </p:spPr>
        <p:txBody>
          <a:bodyPr wrap="square" lIns="0" tIns="0" rIns="0" bIns="0" rtlCol="0" anchor="t"/>
          <a:lstStyle/>
          <a:p>
            <a:pPr indent="0" marL="0">
              <a:buNone/>
            </a:pPr>
            <a:r>
              <a:rPr lang="en-US" sz="1600" dirty="0">
                <a:solidFill>
                  <a:schemeClr val="tx2"/>
                </a:solidFill>
              </a:rPr>
              <a:t>How we designed and built our demo aquarium website</a:t>
            </a:r>
            <a:endParaRPr lang="en-US" sz="1600" dirty="0"/>
          </a:p>
        </p:txBody>
      </p:sp>
      <p:sp>
        <p:nvSpPr>
          <p:cNvPr id="8" name="Body By Javeria, Hira and"/>
          <p:cNvSpPr txBox="1"/>
          <p:nvPr/>
        </p:nvSpPr>
        <p:spPr>
          <a:xfrm>
            <a:off x="640080" y="4023360"/>
            <a:ext cx="4572000" cy="320040"/>
          </a:xfrm>
          <a:prstGeom prst="rect">
            <a:avLst/>
          </a:prstGeom>
          <a:noFill/>
          <a:ln/>
        </p:spPr>
        <p:txBody>
          <a:bodyPr wrap="square" lIns="0" tIns="0" rIns="0" bIns="0" rtlCol="0" anchor="t"/>
          <a:lstStyle/>
          <a:p>
            <a:pPr indent="0" marL="0">
              <a:buNone/>
            </a:pPr>
            <a:r>
              <a:rPr lang="en-US" sz="1400" dirty="0">
                <a:solidFill>
                  <a:schemeClr val="tx1"/>
                </a:solidFill>
              </a:rPr>
              <a:t>By Javeria, Hira and Manahil</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childTnLst>
                          </p:cTn>
                        </p:par>
                        <p:par>
                          <p:cTn id="15" fill="hold">
                            <p:stCondLst>
                              <p:cond delay="104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450"/>
                                        <p:tgtEl>
                                          <p:spTgt spid="6"/>
                                        </p:tgtEl>
                                      </p:cBhvr>
                                    </p:animEffect>
                                  </p:childTnLst>
                                </p:cTn>
                              </p:par>
                            </p:childTnLst>
                          </p:cTn>
                        </p:par>
                        <p:par>
                          <p:cTn id="19" fill="hold">
                            <p:stCondLst>
                              <p:cond delay="1560"/>
                            </p:stCondLst>
                            <p:childTnLst>
                              <p:par>
                                <p:cTn id="20" presetID="22" presetClass="entr" presetSubtype="8"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450"/>
                                        <p:tgtEl>
                                          <p:spTgt spid="7"/>
                                        </p:tgtEl>
                                      </p:cBhvr>
                                    </p:animEffect>
                                  </p:childTnLst>
                                </p:cTn>
                              </p:par>
                            </p:childTnLst>
                          </p:cTn>
                        </p:par>
                        <p:par>
                          <p:cTn id="23" fill="hold">
                            <p:stCondLst>
                              <p:cond delay="2080"/>
                            </p:stCondLst>
                            <p:childTnLst>
                              <p:par>
                                <p:cTn id="24" presetID="22" presetClass="entr" presetSubtype="8"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About the project</a:t>
            </a:r>
            <a:endParaRPr lang="en-US" sz="3600" dirty="0"/>
          </a:p>
        </p:txBody>
      </p:sp>
      <p:sp>
        <p:nvSpPr>
          <p:cNvPr id="4" name="Body A demo website for a"/>
          <p:cNvSpPr txBox="1"/>
          <p:nvPr/>
        </p:nvSpPr>
        <p:spPr>
          <a:xfrm>
            <a:off x="457200" y="1280160"/>
            <a:ext cx="3931920" cy="1371600"/>
          </a:xfrm>
          <a:prstGeom prst="rect">
            <a:avLst/>
          </a:prstGeom>
          <a:noFill/>
          <a:ln/>
        </p:spPr>
        <p:txBody>
          <a:bodyPr wrap="square" lIns="0" tIns="0" rIns="0" bIns="0" rtlCol="0" anchor="t"/>
          <a:lstStyle/>
          <a:p>
            <a:pPr indent="0" marL="0">
              <a:buNone/>
            </a:pPr>
            <a:r>
              <a:rPr lang="en-US" sz="2400" b="1" dirty="0">
                <a:solidFill>
                  <a:schemeClr val="tx1"/>
                </a:solidFill>
              </a:rPr>
              <a:t>A demo website for an aquarium in Washington, USA</a:t>
            </a:r>
            <a:endParaRPr lang="en-US" sz="2400" dirty="0"/>
          </a:p>
        </p:txBody>
      </p:sp>
      <p:sp>
        <p:nvSpPr>
          <p:cNvPr id="5" name="Body We built it to pract"/>
          <p:cNvSpPr txBox="1"/>
          <p:nvPr/>
        </p:nvSpPr>
        <p:spPr>
          <a:xfrm>
            <a:off x="457200" y="2834640"/>
            <a:ext cx="3931920" cy="1371600"/>
          </a:xfrm>
          <a:prstGeom prst="rect">
            <a:avLst/>
          </a:prstGeom>
          <a:noFill/>
          <a:ln/>
        </p:spPr>
        <p:txBody>
          <a:bodyPr wrap="square" lIns="0" tIns="0" rIns="0" bIns="0" rtlCol="0" anchor="t"/>
          <a:lstStyle/>
          <a:p>
            <a:pPr indent="0" marL="0">
              <a:buNone/>
            </a:pPr>
            <a:r>
              <a:rPr lang="en-US" sz="1400" dirty="0">
                <a:solidFill>
                  <a:schemeClr val="tx2"/>
                </a:solidFill>
              </a:rPr>
              <a:t>We built it to practise real web development: showing information, helping visitors explore sea life, and letting them book tickets.</a:t>
            </a:r>
            <a:endParaRPr lang="en-US" sz="1400" dirty="0"/>
          </a:p>
        </p:txBody>
      </p:sp>
      <p:sp>
        <p:nvSpPr>
          <p:cNvPr id="6" name="About card 1"/>
          <p:cNvSpPr/>
          <p:nvPr/>
        </p:nvSpPr>
        <p:spPr>
          <a:xfrm>
            <a:off x="4754880" y="1280160"/>
            <a:ext cx="3931920" cy="914400"/>
          </a:xfrm>
          <a:prstGeom prst="roundRect">
            <a:avLst>
              <a:gd name="adj" fmla="val 12000"/>
            </a:avLst>
          </a:prstGeom>
          <a:solidFill>
            <a:schemeClr val="bg2"/>
          </a:solidFill>
          <a:ln w="12700">
            <a:solidFill>
              <a:schemeClr val="accent4"/>
            </a:solidFill>
            <a:prstDash val="solid"/>
          </a:ln>
        </p:spPr>
      </p:sp>
      <p:sp>
        <p:nvSpPr>
          <p:cNvPr id="7" name="Topic circle"/>
          <p:cNvSpPr/>
          <p:nvPr/>
        </p:nvSpPr>
        <p:spPr>
          <a:xfrm>
            <a:off x="4937760" y="1481328"/>
            <a:ext cx="512064" cy="512064"/>
          </a:xfrm>
          <a:prstGeom prst="ellipse">
            <a:avLst/>
          </a:prstGeom>
          <a:solidFill>
            <a:schemeClr val="accent1"/>
          </a:solidFill>
          <a:ln w="12700">
            <a:solidFill>
              <a:schemeClr val="accent1"/>
            </a:solidFill>
            <a:prstDash val="solid"/>
          </a:ln>
        </p:spPr>
      </p:sp>
      <p:pic>
        <p:nvPicPr>
          <p:cNvPr id="8" name="Topic icon" descr="Topic">    </p:cNvPr>
          <p:cNvPicPr>
            <a:picLocks noChangeAspect="1"/>
          </p:cNvPicPr>
          <p:nvPr/>
        </p:nvPicPr>
        <p:blipFill>
          <a:blip r:embed="rId1"/>
          <a:stretch>
            <a:fillRect/>
          </a:stretch>
        </p:blipFill>
        <p:spPr>
          <a:xfrm>
            <a:off x="5065776" y="1609344"/>
            <a:ext cx="256032" cy="256032"/>
          </a:xfrm>
          <a:prstGeom prst="rect">
            <a:avLst/>
          </a:prstGeom>
        </p:spPr>
      </p:pic>
      <p:sp>
        <p:nvSpPr>
          <p:cNvPr id="9" name="Heading Topic"/>
          <p:cNvSpPr txBox="1"/>
          <p:nvPr/>
        </p:nvSpPr>
        <p:spPr>
          <a:xfrm>
            <a:off x="5623560" y="1389888"/>
            <a:ext cx="2926080" cy="320040"/>
          </a:xfrm>
          <a:prstGeom prst="rect">
            <a:avLst/>
          </a:prstGeom>
          <a:noFill/>
          <a:ln/>
        </p:spPr>
        <p:txBody>
          <a:bodyPr wrap="square" lIns="0" tIns="0" rIns="0" bIns="0" rtlCol="0" anchor="ctr"/>
          <a:lstStyle/>
          <a:p>
            <a:pPr indent="0" marL="0">
              <a:buNone/>
            </a:pPr>
            <a:r>
              <a:rPr lang="en-US" sz="1600" b="1" dirty="0">
                <a:solidFill>
                  <a:schemeClr val="accent3"/>
                </a:solidFill>
              </a:rPr>
              <a:t>Topic</a:t>
            </a:r>
            <a:endParaRPr lang="en-US" sz="1600" dirty="0"/>
          </a:p>
        </p:txBody>
      </p:sp>
      <p:sp>
        <p:nvSpPr>
          <p:cNvPr id="10" name="Body Nexus Aquarium and i"/>
          <p:cNvSpPr txBox="1"/>
          <p:nvPr/>
        </p:nvSpPr>
        <p:spPr>
          <a:xfrm>
            <a:off x="5623560" y="1709928"/>
            <a:ext cx="2926080" cy="457200"/>
          </a:xfrm>
          <a:prstGeom prst="rect">
            <a:avLst/>
          </a:prstGeom>
          <a:noFill/>
          <a:ln/>
        </p:spPr>
        <p:txBody>
          <a:bodyPr wrap="square" lIns="0" tIns="0" rIns="0" bIns="0" rtlCol="0" anchor="t"/>
          <a:lstStyle/>
          <a:p>
            <a:pPr indent="0" marL="0">
              <a:buNone/>
            </a:pPr>
            <a:r>
              <a:rPr lang="en-US" sz="1400" dirty="0">
                <a:solidFill>
                  <a:schemeClr val="tx1"/>
                </a:solidFill>
              </a:rPr>
              <a:t>Nexus Aquarium and its newest sea creatures</a:t>
            </a:r>
            <a:endParaRPr lang="en-US" sz="1400" dirty="0"/>
          </a:p>
        </p:txBody>
      </p:sp>
      <p:sp>
        <p:nvSpPr>
          <p:cNvPr id="11" name="About card 2"/>
          <p:cNvSpPr/>
          <p:nvPr/>
        </p:nvSpPr>
        <p:spPr>
          <a:xfrm>
            <a:off x="4754880" y="2331720"/>
            <a:ext cx="3931920" cy="914400"/>
          </a:xfrm>
          <a:prstGeom prst="roundRect">
            <a:avLst>
              <a:gd name="adj" fmla="val 12000"/>
            </a:avLst>
          </a:prstGeom>
          <a:solidFill>
            <a:schemeClr val="bg2"/>
          </a:solidFill>
          <a:ln w="12700">
            <a:solidFill>
              <a:schemeClr val="accent4"/>
            </a:solidFill>
            <a:prstDash val="solid"/>
          </a:ln>
        </p:spPr>
      </p:sp>
      <p:sp>
        <p:nvSpPr>
          <p:cNvPr id="12" name="Purpose circle"/>
          <p:cNvSpPr/>
          <p:nvPr/>
        </p:nvSpPr>
        <p:spPr>
          <a:xfrm>
            <a:off x="4937760" y="2532888"/>
            <a:ext cx="512064" cy="512064"/>
          </a:xfrm>
          <a:prstGeom prst="ellipse">
            <a:avLst/>
          </a:prstGeom>
          <a:solidFill>
            <a:schemeClr val="accent1"/>
          </a:solidFill>
          <a:ln w="12700">
            <a:solidFill>
              <a:schemeClr val="accent1"/>
            </a:solidFill>
            <a:prstDash val="solid"/>
          </a:ln>
        </p:spPr>
      </p:sp>
      <p:pic>
        <p:nvPicPr>
          <p:cNvPr id="13" name="Purpose icon" descr="Purpose">    </p:cNvPr>
          <p:cNvPicPr>
            <a:picLocks noChangeAspect="1"/>
          </p:cNvPicPr>
          <p:nvPr/>
        </p:nvPicPr>
        <p:blipFill>
          <a:blip r:embed="rId2"/>
          <a:stretch>
            <a:fillRect/>
          </a:stretch>
        </p:blipFill>
        <p:spPr>
          <a:xfrm>
            <a:off x="5065776" y="2660904"/>
            <a:ext cx="256032" cy="256032"/>
          </a:xfrm>
          <a:prstGeom prst="rect">
            <a:avLst/>
          </a:prstGeom>
        </p:spPr>
      </p:pic>
      <p:sp>
        <p:nvSpPr>
          <p:cNvPr id="14" name="Heading Purpose"/>
          <p:cNvSpPr txBox="1"/>
          <p:nvPr/>
        </p:nvSpPr>
        <p:spPr>
          <a:xfrm>
            <a:off x="5623560" y="2441448"/>
            <a:ext cx="2926080" cy="320040"/>
          </a:xfrm>
          <a:prstGeom prst="rect">
            <a:avLst/>
          </a:prstGeom>
          <a:noFill/>
          <a:ln/>
        </p:spPr>
        <p:txBody>
          <a:bodyPr wrap="square" lIns="0" tIns="0" rIns="0" bIns="0" rtlCol="0" anchor="ctr"/>
          <a:lstStyle/>
          <a:p>
            <a:pPr indent="0" marL="0">
              <a:buNone/>
            </a:pPr>
            <a:r>
              <a:rPr lang="en-US" sz="1600" b="1" dirty="0">
                <a:solidFill>
                  <a:schemeClr val="accent3"/>
                </a:solidFill>
              </a:rPr>
              <a:t>Purpose</a:t>
            </a:r>
            <a:endParaRPr lang="en-US" sz="1600" dirty="0"/>
          </a:p>
        </p:txBody>
      </p:sp>
      <p:sp>
        <p:nvSpPr>
          <p:cNvPr id="15" name="Body A demo site with inf"/>
          <p:cNvSpPr txBox="1"/>
          <p:nvPr/>
        </p:nvSpPr>
        <p:spPr>
          <a:xfrm>
            <a:off x="5623560" y="2761488"/>
            <a:ext cx="2926080" cy="457200"/>
          </a:xfrm>
          <a:prstGeom prst="rect">
            <a:avLst/>
          </a:prstGeom>
          <a:noFill/>
          <a:ln/>
        </p:spPr>
        <p:txBody>
          <a:bodyPr wrap="square" lIns="0" tIns="0" rIns="0" bIns="0" rtlCol="0" anchor="t"/>
          <a:lstStyle/>
          <a:p>
            <a:pPr indent="0" marL="0">
              <a:buNone/>
            </a:pPr>
            <a:r>
              <a:rPr lang="en-US" sz="1400" dirty="0">
                <a:solidFill>
                  <a:schemeClr val="tx1"/>
                </a:solidFill>
              </a:rPr>
              <a:t>A demo site with information and a mock booking</a:t>
            </a:r>
            <a:endParaRPr lang="en-US" sz="1400" dirty="0"/>
          </a:p>
        </p:txBody>
      </p:sp>
      <p:sp>
        <p:nvSpPr>
          <p:cNvPr id="16" name="About card 3"/>
          <p:cNvSpPr/>
          <p:nvPr/>
        </p:nvSpPr>
        <p:spPr>
          <a:xfrm>
            <a:off x="4754880" y="3383280"/>
            <a:ext cx="3931920" cy="914400"/>
          </a:xfrm>
          <a:prstGeom prst="roundRect">
            <a:avLst>
              <a:gd name="adj" fmla="val 12000"/>
            </a:avLst>
          </a:prstGeom>
          <a:solidFill>
            <a:schemeClr val="bg2"/>
          </a:solidFill>
          <a:ln w="12700">
            <a:solidFill>
              <a:schemeClr val="accent4"/>
            </a:solidFill>
            <a:prstDash val="solid"/>
          </a:ln>
        </p:spPr>
      </p:sp>
      <p:sp>
        <p:nvSpPr>
          <p:cNvPr id="17" name="Team circle"/>
          <p:cNvSpPr/>
          <p:nvPr/>
        </p:nvSpPr>
        <p:spPr>
          <a:xfrm>
            <a:off x="4937760" y="3584448"/>
            <a:ext cx="512064" cy="512064"/>
          </a:xfrm>
          <a:prstGeom prst="ellipse">
            <a:avLst/>
          </a:prstGeom>
          <a:solidFill>
            <a:schemeClr val="accent1"/>
          </a:solidFill>
          <a:ln w="12700">
            <a:solidFill>
              <a:schemeClr val="accent1"/>
            </a:solidFill>
            <a:prstDash val="solid"/>
          </a:ln>
        </p:spPr>
      </p:sp>
      <p:pic>
        <p:nvPicPr>
          <p:cNvPr id="18" name="Team icon" descr="Team">    </p:cNvPr>
          <p:cNvPicPr>
            <a:picLocks noChangeAspect="1"/>
          </p:cNvPicPr>
          <p:nvPr/>
        </p:nvPicPr>
        <p:blipFill>
          <a:blip r:embed="rId3"/>
          <a:stretch>
            <a:fillRect/>
          </a:stretch>
        </p:blipFill>
        <p:spPr>
          <a:xfrm>
            <a:off x="5065776" y="3712464"/>
            <a:ext cx="256032" cy="256032"/>
          </a:xfrm>
          <a:prstGeom prst="rect">
            <a:avLst/>
          </a:prstGeom>
        </p:spPr>
      </p:pic>
      <p:sp>
        <p:nvSpPr>
          <p:cNvPr id="19" name="Heading Team"/>
          <p:cNvSpPr txBox="1"/>
          <p:nvPr/>
        </p:nvSpPr>
        <p:spPr>
          <a:xfrm>
            <a:off x="5623560" y="3493008"/>
            <a:ext cx="2926080" cy="320040"/>
          </a:xfrm>
          <a:prstGeom prst="rect">
            <a:avLst/>
          </a:prstGeom>
          <a:noFill/>
          <a:ln/>
        </p:spPr>
        <p:txBody>
          <a:bodyPr wrap="square" lIns="0" tIns="0" rIns="0" bIns="0" rtlCol="0" anchor="ctr"/>
          <a:lstStyle/>
          <a:p>
            <a:pPr indent="0" marL="0">
              <a:buNone/>
            </a:pPr>
            <a:r>
              <a:rPr lang="en-US" sz="1600" b="1" dirty="0">
                <a:solidFill>
                  <a:schemeClr val="accent3"/>
                </a:solidFill>
              </a:rPr>
              <a:t>Team</a:t>
            </a:r>
            <a:endParaRPr lang="en-US" sz="1600" dirty="0"/>
          </a:p>
        </p:txBody>
      </p:sp>
      <p:sp>
        <p:nvSpPr>
          <p:cNvPr id="20" name="Body Javeria, Hira and Ma"/>
          <p:cNvSpPr txBox="1"/>
          <p:nvPr/>
        </p:nvSpPr>
        <p:spPr>
          <a:xfrm>
            <a:off x="5623560" y="3813048"/>
            <a:ext cx="2926080" cy="457200"/>
          </a:xfrm>
          <a:prstGeom prst="rect">
            <a:avLst/>
          </a:prstGeom>
          <a:noFill/>
          <a:ln/>
        </p:spPr>
        <p:txBody>
          <a:bodyPr wrap="square" lIns="0" tIns="0" rIns="0" bIns="0" rtlCol="0" anchor="t"/>
          <a:lstStyle/>
          <a:p>
            <a:pPr indent="0" marL="0">
              <a:buNone/>
            </a:pPr>
            <a:r>
              <a:rPr lang="en-US" sz="1400" dirty="0">
                <a:solidFill>
                  <a:schemeClr val="tx1"/>
                </a:solidFill>
              </a:rPr>
              <a:t>Javeria, Hira and Manahil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450"/>
                                        <p:tgtEl>
                                          <p:spTgt spid="4"/>
                                        </p:tgtEl>
                                      </p:cBhvr>
                                    </p:animEffect>
                                  </p:childTnLst>
                                </p:cTn>
                              </p:par>
                            </p:childTnLst>
                          </p:cTn>
                        </p:par>
                        <p:par>
                          <p:cTn id="12" fill="hold">
                            <p:stCondLst>
                              <p:cond delay="104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childTnLst>
                          </p:cTn>
                        </p:par>
                        <p:par>
                          <p:cTn id="16" fill="hold">
                            <p:stCondLst>
                              <p:cond delay="156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childTnLst>
                          </p:cTn>
                        </p:par>
                        <p:par>
                          <p:cTn id="32" fill="hold">
                            <p:stCondLst>
                              <p:cond delay="208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5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50"/>
                                        <p:tgtEl>
                                          <p:spTgt spid="15"/>
                                        </p:tgtEl>
                                      </p:cBhvr>
                                    </p:animEffect>
                                  </p:childTnLst>
                                </p:cTn>
                              </p:par>
                            </p:childTnLst>
                          </p:cTn>
                        </p:par>
                        <p:par>
                          <p:cTn id="48" fill="hold">
                            <p:stCondLst>
                              <p:cond delay="2600"/>
                            </p:stCondLst>
                            <p:childTnLst>
                              <p:par>
                                <p:cTn id="49" presetID="10" presetClass="entr" presetSubtype="0"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5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50"/>
                                        <p:tgtEl>
                                          <p:spTgt spid="1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45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What is inside the website</a:t>
            </a:r>
            <a:endParaRPr lang="en-US" sz="3600" dirty="0"/>
          </a:p>
        </p:txBody>
      </p:sp>
      <p:sp>
        <p:nvSpPr>
          <p:cNvPr id="4" name="Page card Home"/>
          <p:cNvSpPr/>
          <p:nvPr/>
        </p:nvSpPr>
        <p:spPr>
          <a:xfrm>
            <a:off x="457200" y="1280160"/>
            <a:ext cx="1920240" cy="1600200"/>
          </a:xfrm>
          <a:prstGeom prst="roundRect">
            <a:avLst>
              <a:gd name="adj" fmla="val 6857"/>
            </a:avLst>
          </a:prstGeom>
          <a:solidFill>
            <a:schemeClr val="bg2"/>
          </a:solidFill>
          <a:ln w="12700">
            <a:solidFill>
              <a:schemeClr val="accent4"/>
            </a:solidFill>
            <a:prstDash val="solid"/>
          </a:ln>
        </p:spPr>
      </p:sp>
      <p:sp>
        <p:nvSpPr>
          <p:cNvPr id="5" name="Home circle"/>
          <p:cNvSpPr/>
          <p:nvPr/>
        </p:nvSpPr>
        <p:spPr>
          <a:xfrm>
            <a:off x="640080" y="1463040"/>
            <a:ext cx="457200" cy="457200"/>
          </a:xfrm>
          <a:prstGeom prst="ellipse">
            <a:avLst/>
          </a:prstGeom>
          <a:solidFill>
            <a:schemeClr val="accent1"/>
          </a:solidFill>
          <a:ln w="12700">
            <a:solidFill>
              <a:schemeClr val="accent1"/>
            </a:solidFill>
            <a:prstDash val="solid"/>
          </a:ln>
        </p:spPr>
      </p:sp>
      <p:pic>
        <p:nvPicPr>
          <p:cNvPr id="6" name="Home icon" descr="Home">    </p:cNvPr>
          <p:cNvPicPr>
            <a:picLocks noChangeAspect="1"/>
          </p:cNvPicPr>
          <p:nvPr/>
        </p:nvPicPr>
        <p:blipFill>
          <a:blip r:embed="rId1"/>
          <a:stretch>
            <a:fillRect/>
          </a:stretch>
        </p:blipFill>
        <p:spPr>
          <a:xfrm>
            <a:off x="754380" y="1577340"/>
            <a:ext cx="228600" cy="228600"/>
          </a:xfrm>
          <a:prstGeom prst="rect">
            <a:avLst/>
          </a:prstGeom>
        </p:spPr>
      </p:pic>
      <p:sp>
        <p:nvSpPr>
          <p:cNvPr id="7" name="Heading Home"/>
          <p:cNvSpPr txBox="1"/>
          <p:nvPr/>
        </p:nvSpPr>
        <p:spPr>
          <a:xfrm>
            <a:off x="640080" y="202996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Home</a:t>
            </a:r>
            <a:endParaRPr lang="en-US" sz="1600" dirty="0"/>
          </a:p>
        </p:txBody>
      </p:sp>
      <p:sp>
        <p:nvSpPr>
          <p:cNvPr id="8" name="Body Video hero and photo"/>
          <p:cNvSpPr txBox="1"/>
          <p:nvPr/>
        </p:nvSpPr>
        <p:spPr>
          <a:xfrm>
            <a:off x="640080" y="2331720"/>
            <a:ext cx="1600200" cy="457200"/>
          </a:xfrm>
          <a:prstGeom prst="rect">
            <a:avLst/>
          </a:prstGeom>
          <a:noFill/>
          <a:ln/>
        </p:spPr>
        <p:txBody>
          <a:bodyPr wrap="square" lIns="0" tIns="0" rIns="0" bIns="0" rtlCol="0" anchor="t"/>
          <a:lstStyle/>
          <a:p>
            <a:pPr indent="0" marL="0">
              <a:buNone/>
            </a:pPr>
            <a:r>
              <a:rPr lang="en-US" sz="1400" dirty="0">
                <a:solidFill>
                  <a:schemeClr val="tx2"/>
                </a:solidFill>
              </a:rPr>
              <a:t>Video hero and photo mosaic</a:t>
            </a:r>
            <a:endParaRPr lang="en-US" sz="1400" dirty="0"/>
          </a:p>
        </p:txBody>
      </p:sp>
      <p:sp>
        <p:nvSpPr>
          <p:cNvPr id="9" name="Page card Gallery"/>
          <p:cNvSpPr/>
          <p:nvPr/>
        </p:nvSpPr>
        <p:spPr>
          <a:xfrm>
            <a:off x="2560320" y="1280160"/>
            <a:ext cx="1920240" cy="1600200"/>
          </a:xfrm>
          <a:prstGeom prst="roundRect">
            <a:avLst>
              <a:gd name="adj" fmla="val 6857"/>
            </a:avLst>
          </a:prstGeom>
          <a:solidFill>
            <a:schemeClr val="bg2"/>
          </a:solidFill>
          <a:ln w="12700">
            <a:solidFill>
              <a:schemeClr val="accent4"/>
            </a:solidFill>
            <a:prstDash val="solid"/>
          </a:ln>
        </p:spPr>
      </p:sp>
      <p:sp>
        <p:nvSpPr>
          <p:cNvPr id="10" name="Gallery circle"/>
          <p:cNvSpPr/>
          <p:nvPr/>
        </p:nvSpPr>
        <p:spPr>
          <a:xfrm>
            <a:off x="2743200" y="1463040"/>
            <a:ext cx="457200" cy="457200"/>
          </a:xfrm>
          <a:prstGeom prst="ellipse">
            <a:avLst/>
          </a:prstGeom>
          <a:solidFill>
            <a:schemeClr val="accent1"/>
          </a:solidFill>
          <a:ln w="12700">
            <a:solidFill>
              <a:schemeClr val="accent1"/>
            </a:solidFill>
            <a:prstDash val="solid"/>
          </a:ln>
        </p:spPr>
      </p:sp>
      <p:pic>
        <p:nvPicPr>
          <p:cNvPr id="11" name="Gallery icon" descr="Gallery">    </p:cNvPr>
          <p:cNvPicPr>
            <a:picLocks noChangeAspect="1"/>
          </p:cNvPicPr>
          <p:nvPr/>
        </p:nvPicPr>
        <p:blipFill>
          <a:blip r:embed="rId2"/>
          <a:stretch>
            <a:fillRect/>
          </a:stretch>
        </p:blipFill>
        <p:spPr>
          <a:xfrm>
            <a:off x="2857500" y="1577340"/>
            <a:ext cx="228600" cy="228600"/>
          </a:xfrm>
          <a:prstGeom prst="rect">
            <a:avLst/>
          </a:prstGeom>
        </p:spPr>
      </p:pic>
      <p:sp>
        <p:nvSpPr>
          <p:cNvPr id="12" name="Heading Gallery"/>
          <p:cNvSpPr txBox="1"/>
          <p:nvPr/>
        </p:nvSpPr>
        <p:spPr>
          <a:xfrm>
            <a:off x="2743200" y="202996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Gallery</a:t>
            </a:r>
            <a:endParaRPr lang="en-US" sz="1600" dirty="0"/>
          </a:p>
        </p:txBody>
      </p:sp>
      <p:sp>
        <p:nvSpPr>
          <p:cNvPr id="13" name="Body Filterable photo gri"/>
          <p:cNvSpPr txBox="1"/>
          <p:nvPr/>
        </p:nvSpPr>
        <p:spPr>
          <a:xfrm>
            <a:off x="2743200" y="2331720"/>
            <a:ext cx="1600200" cy="457200"/>
          </a:xfrm>
          <a:prstGeom prst="rect">
            <a:avLst/>
          </a:prstGeom>
          <a:noFill/>
          <a:ln/>
        </p:spPr>
        <p:txBody>
          <a:bodyPr wrap="square" lIns="0" tIns="0" rIns="0" bIns="0" rtlCol="0" anchor="t"/>
          <a:lstStyle/>
          <a:p>
            <a:pPr indent="0" marL="0">
              <a:buNone/>
            </a:pPr>
            <a:r>
              <a:rPr lang="en-US" sz="1400" dirty="0">
                <a:solidFill>
                  <a:schemeClr val="tx2"/>
                </a:solidFill>
              </a:rPr>
              <a:t>Filterable photo grid</a:t>
            </a:r>
            <a:endParaRPr lang="en-US" sz="1400" dirty="0"/>
          </a:p>
        </p:txBody>
      </p:sp>
      <p:sp>
        <p:nvSpPr>
          <p:cNvPr id="14" name="Page card Marine Life"/>
          <p:cNvSpPr/>
          <p:nvPr/>
        </p:nvSpPr>
        <p:spPr>
          <a:xfrm>
            <a:off x="4663440" y="1280160"/>
            <a:ext cx="1920240" cy="1600200"/>
          </a:xfrm>
          <a:prstGeom prst="roundRect">
            <a:avLst>
              <a:gd name="adj" fmla="val 6857"/>
            </a:avLst>
          </a:prstGeom>
          <a:solidFill>
            <a:schemeClr val="bg2"/>
          </a:solidFill>
          <a:ln w="12700">
            <a:solidFill>
              <a:schemeClr val="accent4"/>
            </a:solidFill>
            <a:prstDash val="solid"/>
          </a:ln>
        </p:spPr>
      </p:sp>
      <p:sp>
        <p:nvSpPr>
          <p:cNvPr id="15" name="Marine Life circle"/>
          <p:cNvSpPr/>
          <p:nvPr/>
        </p:nvSpPr>
        <p:spPr>
          <a:xfrm>
            <a:off x="4846320" y="1463040"/>
            <a:ext cx="457200" cy="457200"/>
          </a:xfrm>
          <a:prstGeom prst="ellipse">
            <a:avLst/>
          </a:prstGeom>
          <a:solidFill>
            <a:schemeClr val="accent1"/>
          </a:solidFill>
          <a:ln w="12700">
            <a:solidFill>
              <a:schemeClr val="accent1"/>
            </a:solidFill>
            <a:prstDash val="solid"/>
          </a:ln>
        </p:spPr>
      </p:sp>
      <p:pic>
        <p:nvPicPr>
          <p:cNvPr id="16" name="Marine Life icon" descr="Marine Life">    </p:cNvPr>
          <p:cNvPicPr>
            <a:picLocks noChangeAspect="1"/>
          </p:cNvPicPr>
          <p:nvPr/>
        </p:nvPicPr>
        <p:blipFill>
          <a:blip r:embed="rId3"/>
          <a:stretch>
            <a:fillRect/>
          </a:stretch>
        </p:blipFill>
        <p:spPr>
          <a:xfrm>
            <a:off x="4960620" y="1577340"/>
            <a:ext cx="228600" cy="228600"/>
          </a:xfrm>
          <a:prstGeom prst="rect">
            <a:avLst/>
          </a:prstGeom>
        </p:spPr>
      </p:pic>
      <p:sp>
        <p:nvSpPr>
          <p:cNvPr id="17" name="Heading Marine Life"/>
          <p:cNvSpPr txBox="1"/>
          <p:nvPr/>
        </p:nvSpPr>
        <p:spPr>
          <a:xfrm>
            <a:off x="4846320" y="202996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Marine Life</a:t>
            </a:r>
            <a:endParaRPr lang="en-US" sz="1600" dirty="0"/>
          </a:p>
        </p:txBody>
      </p:sp>
      <p:sp>
        <p:nvSpPr>
          <p:cNvPr id="18" name="Body Table of 10 new spec"/>
          <p:cNvSpPr txBox="1"/>
          <p:nvPr/>
        </p:nvSpPr>
        <p:spPr>
          <a:xfrm>
            <a:off x="4846320" y="2331720"/>
            <a:ext cx="1600200" cy="457200"/>
          </a:xfrm>
          <a:prstGeom prst="rect">
            <a:avLst/>
          </a:prstGeom>
          <a:noFill/>
          <a:ln/>
        </p:spPr>
        <p:txBody>
          <a:bodyPr wrap="square" lIns="0" tIns="0" rIns="0" bIns="0" rtlCol="0" anchor="t"/>
          <a:lstStyle/>
          <a:p>
            <a:pPr indent="0" marL="0">
              <a:buNone/>
            </a:pPr>
            <a:r>
              <a:rPr lang="en-US" sz="1400" dirty="0">
                <a:solidFill>
                  <a:schemeClr val="tx2"/>
                </a:solidFill>
              </a:rPr>
              <a:t>Table of 10 new species</a:t>
            </a:r>
            <a:endParaRPr lang="en-US" sz="1400" dirty="0"/>
          </a:p>
        </p:txBody>
      </p:sp>
      <p:sp>
        <p:nvSpPr>
          <p:cNvPr id="19" name="Page card Visit"/>
          <p:cNvSpPr/>
          <p:nvPr/>
        </p:nvSpPr>
        <p:spPr>
          <a:xfrm>
            <a:off x="6766560" y="1280160"/>
            <a:ext cx="1920240" cy="1600200"/>
          </a:xfrm>
          <a:prstGeom prst="roundRect">
            <a:avLst>
              <a:gd name="adj" fmla="val 6857"/>
            </a:avLst>
          </a:prstGeom>
          <a:solidFill>
            <a:schemeClr val="bg2"/>
          </a:solidFill>
          <a:ln w="12700">
            <a:solidFill>
              <a:schemeClr val="accent4"/>
            </a:solidFill>
            <a:prstDash val="solid"/>
          </a:ln>
        </p:spPr>
      </p:sp>
      <p:sp>
        <p:nvSpPr>
          <p:cNvPr id="20" name="Visit circle"/>
          <p:cNvSpPr/>
          <p:nvPr/>
        </p:nvSpPr>
        <p:spPr>
          <a:xfrm>
            <a:off x="6949440" y="1463040"/>
            <a:ext cx="457200" cy="457200"/>
          </a:xfrm>
          <a:prstGeom prst="ellipse">
            <a:avLst/>
          </a:prstGeom>
          <a:solidFill>
            <a:schemeClr val="accent1"/>
          </a:solidFill>
          <a:ln w="12700">
            <a:solidFill>
              <a:schemeClr val="accent1"/>
            </a:solidFill>
            <a:prstDash val="solid"/>
          </a:ln>
        </p:spPr>
      </p:sp>
      <p:pic>
        <p:nvPicPr>
          <p:cNvPr id="21" name="Visit icon" descr="Visit">    </p:cNvPr>
          <p:cNvPicPr>
            <a:picLocks noChangeAspect="1"/>
          </p:cNvPicPr>
          <p:nvPr/>
        </p:nvPicPr>
        <p:blipFill>
          <a:blip r:embed="rId4"/>
          <a:stretch>
            <a:fillRect/>
          </a:stretch>
        </p:blipFill>
        <p:spPr>
          <a:xfrm>
            <a:off x="7063740" y="1577340"/>
            <a:ext cx="228600" cy="228600"/>
          </a:xfrm>
          <a:prstGeom prst="rect">
            <a:avLst/>
          </a:prstGeom>
        </p:spPr>
      </p:pic>
      <p:sp>
        <p:nvSpPr>
          <p:cNvPr id="22" name="Heading Visit"/>
          <p:cNvSpPr txBox="1"/>
          <p:nvPr/>
        </p:nvSpPr>
        <p:spPr>
          <a:xfrm>
            <a:off x="6949440" y="202996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Visit</a:t>
            </a:r>
            <a:endParaRPr lang="en-US" sz="1600" dirty="0"/>
          </a:p>
        </p:txBody>
      </p:sp>
      <p:sp>
        <p:nvSpPr>
          <p:cNvPr id="23" name="Body Hours, tickets, near"/>
          <p:cNvSpPr txBox="1"/>
          <p:nvPr/>
        </p:nvSpPr>
        <p:spPr>
          <a:xfrm>
            <a:off x="6949440" y="2331720"/>
            <a:ext cx="1600200" cy="457200"/>
          </a:xfrm>
          <a:prstGeom prst="rect">
            <a:avLst/>
          </a:prstGeom>
          <a:noFill/>
          <a:ln/>
        </p:spPr>
        <p:txBody>
          <a:bodyPr wrap="square" lIns="0" tIns="0" rIns="0" bIns="0" rtlCol="0" anchor="t"/>
          <a:lstStyle/>
          <a:p>
            <a:pPr indent="0" marL="0">
              <a:buNone/>
            </a:pPr>
            <a:r>
              <a:rPr lang="en-US" sz="1400" dirty="0">
                <a:solidFill>
                  <a:schemeClr val="tx2"/>
                </a:solidFill>
              </a:rPr>
              <a:t>Hours, tickets, nearby</a:t>
            </a:r>
            <a:endParaRPr lang="en-US" sz="1400" dirty="0"/>
          </a:p>
        </p:txBody>
      </p:sp>
      <p:sp>
        <p:nvSpPr>
          <p:cNvPr id="24" name="Page card Events"/>
          <p:cNvSpPr/>
          <p:nvPr/>
        </p:nvSpPr>
        <p:spPr>
          <a:xfrm>
            <a:off x="457200" y="3017520"/>
            <a:ext cx="1920240" cy="1600200"/>
          </a:xfrm>
          <a:prstGeom prst="roundRect">
            <a:avLst>
              <a:gd name="adj" fmla="val 6857"/>
            </a:avLst>
          </a:prstGeom>
          <a:solidFill>
            <a:schemeClr val="bg2"/>
          </a:solidFill>
          <a:ln w="12700">
            <a:solidFill>
              <a:schemeClr val="accent4"/>
            </a:solidFill>
            <a:prstDash val="solid"/>
          </a:ln>
        </p:spPr>
      </p:sp>
      <p:sp>
        <p:nvSpPr>
          <p:cNvPr id="25" name="Events circle"/>
          <p:cNvSpPr/>
          <p:nvPr/>
        </p:nvSpPr>
        <p:spPr>
          <a:xfrm>
            <a:off x="640080" y="3200400"/>
            <a:ext cx="457200" cy="457200"/>
          </a:xfrm>
          <a:prstGeom prst="ellipse">
            <a:avLst/>
          </a:prstGeom>
          <a:solidFill>
            <a:schemeClr val="accent1"/>
          </a:solidFill>
          <a:ln w="12700">
            <a:solidFill>
              <a:schemeClr val="accent1"/>
            </a:solidFill>
            <a:prstDash val="solid"/>
          </a:ln>
        </p:spPr>
      </p:sp>
      <p:pic>
        <p:nvPicPr>
          <p:cNvPr id="26" name="Events icon" descr="Events">    </p:cNvPr>
          <p:cNvPicPr>
            <a:picLocks noChangeAspect="1"/>
          </p:cNvPicPr>
          <p:nvPr/>
        </p:nvPicPr>
        <p:blipFill>
          <a:blip r:embed="rId5"/>
          <a:stretch>
            <a:fillRect/>
          </a:stretch>
        </p:blipFill>
        <p:spPr>
          <a:xfrm>
            <a:off x="754380" y="3314700"/>
            <a:ext cx="228600" cy="228600"/>
          </a:xfrm>
          <a:prstGeom prst="rect">
            <a:avLst/>
          </a:prstGeom>
        </p:spPr>
      </p:pic>
      <p:sp>
        <p:nvSpPr>
          <p:cNvPr id="27" name="Heading Events"/>
          <p:cNvSpPr txBox="1"/>
          <p:nvPr/>
        </p:nvSpPr>
        <p:spPr>
          <a:xfrm>
            <a:off x="640080" y="376732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Events</a:t>
            </a:r>
            <a:endParaRPr lang="en-US" sz="1600" dirty="0"/>
          </a:p>
        </p:txBody>
      </p:sp>
      <p:sp>
        <p:nvSpPr>
          <p:cNvPr id="28" name="Body Adult and children p"/>
          <p:cNvSpPr txBox="1"/>
          <p:nvPr/>
        </p:nvSpPr>
        <p:spPr>
          <a:xfrm>
            <a:off x="640080" y="4069080"/>
            <a:ext cx="1600200" cy="457200"/>
          </a:xfrm>
          <a:prstGeom prst="rect">
            <a:avLst/>
          </a:prstGeom>
          <a:noFill/>
          <a:ln/>
        </p:spPr>
        <p:txBody>
          <a:bodyPr wrap="square" lIns="0" tIns="0" rIns="0" bIns="0" rtlCol="0" anchor="t"/>
          <a:lstStyle/>
          <a:p>
            <a:pPr indent="0" marL="0">
              <a:buNone/>
            </a:pPr>
            <a:r>
              <a:rPr lang="en-US" sz="1400" dirty="0">
                <a:solidFill>
                  <a:schemeClr val="tx2"/>
                </a:solidFill>
              </a:rPr>
              <a:t>Adult and children programs</a:t>
            </a:r>
            <a:endParaRPr lang="en-US" sz="1400" dirty="0"/>
          </a:p>
        </p:txBody>
      </p:sp>
      <p:sp>
        <p:nvSpPr>
          <p:cNvPr id="29" name="Page card Book Now"/>
          <p:cNvSpPr/>
          <p:nvPr/>
        </p:nvSpPr>
        <p:spPr>
          <a:xfrm>
            <a:off x="2560320" y="3017520"/>
            <a:ext cx="1920240" cy="1600200"/>
          </a:xfrm>
          <a:prstGeom prst="roundRect">
            <a:avLst>
              <a:gd name="adj" fmla="val 6857"/>
            </a:avLst>
          </a:prstGeom>
          <a:solidFill>
            <a:schemeClr val="bg2"/>
          </a:solidFill>
          <a:ln w="12700">
            <a:solidFill>
              <a:schemeClr val="accent4"/>
            </a:solidFill>
            <a:prstDash val="solid"/>
          </a:ln>
        </p:spPr>
      </p:sp>
      <p:sp>
        <p:nvSpPr>
          <p:cNvPr id="30" name="Book Now circle"/>
          <p:cNvSpPr/>
          <p:nvPr/>
        </p:nvSpPr>
        <p:spPr>
          <a:xfrm>
            <a:off x="2743200" y="3200400"/>
            <a:ext cx="457200" cy="457200"/>
          </a:xfrm>
          <a:prstGeom prst="ellipse">
            <a:avLst/>
          </a:prstGeom>
          <a:solidFill>
            <a:schemeClr val="accent2"/>
          </a:solidFill>
          <a:ln w="12700">
            <a:solidFill>
              <a:schemeClr val="accent2"/>
            </a:solidFill>
            <a:prstDash val="solid"/>
          </a:ln>
        </p:spPr>
      </p:sp>
      <p:pic>
        <p:nvPicPr>
          <p:cNvPr id="31" name="Book Now icon" descr="Book Now">    </p:cNvPr>
          <p:cNvPicPr>
            <a:picLocks noChangeAspect="1"/>
          </p:cNvPicPr>
          <p:nvPr/>
        </p:nvPicPr>
        <p:blipFill>
          <a:blip r:embed="rId6"/>
          <a:stretch>
            <a:fillRect/>
          </a:stretch>
        </p:blipFill>
        <p:spPr>
          <a:xfrm>
            <a:off x="2857500" y="3314700"/>
            <a:ext cx="228600" cy="228600"/>
          </a:xfrm>
          <a:prstGeom prst="rect">
            <a:avLst/>
          </a:prstGeom>
        </p:spPr>
      </p:pic>
      <p:sp>
        <p:nvSpPr>
          <p:cNvPr id="32" name="Heading Book Now"/>
          <p:cNvSpPr txBox="1"/>
          <p:nvPr/>
        </p:nvSpPr>
        <p:spPr>
          <a:xfrm>
            <a:off x="2743200" y="376732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Book Now</a:t>
            </a:r>
            <a:endParaRPr lang="en-US" sz="1600" dirty="0"/>
          </a:p>
        </p:txBody>
      </p:sp>
      <p:sp>
        <p:nvSpPr>
          <p:cNvPr id="33" name="Body Ticket form, auto to"/>
          <p:cNvSpPr txBox="1"/>
          <p:nvPr/>
        </p:nvSpPr>
        <p:spPr>
          <a:xfrm>
            <a:off x="2743200" y="4069080"/>
            <a:ext cx="1600200" cy="457200"/>
          </a:xfrm>
          <a:prstGeom prst="rect">
            <a:avLst/>
          </a:prstGeom>
          <a:noFill/>
          <a:ln/>
        </p:spPr>
        <p:txBody>
          <a:bodyPr wrap="square" lIns="0" tIns="0" rIns="0" bIns="0" rtlCol="0" anchor="t"/>
          <a:lstStyle/>
          <a:p>
            <a:pPr indent="0" marL="0">
              <a:buNone/>
            </a:pPr>
            <a:r>
              <a:rPr lang="en-US" sz="1400" dirty="0">
                <a:solidFill>
                  <a:schemeClr val="tx2"/>
                </a:solidFill>
              </a:rPr>
              <a:t>Ticket form, auto total</a:t>
            </a:r>
            <a:endParaRPr lang="en-US" sz="1400" dirty="0"/>
          </a:p>
        </p:txBody>
      </p:sp>
      <p:sp>
        <p:nvSpPr>
          <p:cNvPr id="34" name="Page card Feedback"/>
          <p:cNvSpPr/>
          <p:nvPr/>
        </p:nvSpPr>
        <p:spPr>
          <a:xfrm>
            <a:off x="4663440" y="3017520"/>
            <a:ext cx="1920240" cy="1600200"/>
          </a:xfrm>
          <a:prstGeom prst="roundRect">
            <a:avLst>
              <a:gd name="adj" fmla="val 6857"/>
            </a:avLst>
          </a:prstGeom>
          <a:solidFill>
            <a:schemeClr val="bg2"/>
          </a:solidFill>
          <a:ln w="12700">
            <a:solidFill>
              <a:schemeClr val="accent4"/>
            </a:solidFill>
            <a:prstDash val="solid"/>
          </a:ln>
        </p:spPr>
      </p:sp>
      <p:sp>
        <p:nvSpPr>
          <p:cNvPr id="35" name="Feedback circle"/>
          <p:cNvSpPr/>
          <p:nvPr/>
        </p:nvSpPr>
        <p:spPr>
          <a:xfrm>
            <a:off x="4846320" y="3200400"/>
            <a:ext cx="457200" cy="457200"/>
          </a:xfrm>
          <a:prstGeom prst="ellipse">
            <a:avLst/>
          </a:prstGeom>
          <a:solidFill>
            <a:schemeClr val="accent1"/>
          </a:solidFill>
          <a:ln w="12700">
            <a:solidFill>
              <a:schemeClr val="accent1"/>
            </a:solidFill>
            <a:prstDash val="solid"/>
          </a:ln>
        </p:spPr>
      </p:sp>
      <p:pic>
        <p:nvPicPr>
          <p:cNvPr id="36" name="Feedback icon" descr="Feedback">    </p:cNvPr>
          <p:cNvPicPr>
            <a:picLocks noChangeAspect="1"/>
          </p:cNvPicPr>
          <p:nvPr/>
        </p:nvPicPr>
        <p:blipFill>
          <a:blip r:embed="rId7"/>
          <a:stretch>
            <a:fillRect/>
          </a:stretch>
        </p:blipFill>
        <p:spPr>
          <a:xfrm>
            <a:off x="4960620" y="3314700"/>
            <a:ext cx="228600" cy="228600"/>
          </a:xfrm>
          <a:prstGeom prst="rect">
            <a:avLst/>
          </a:prstGeom>
        </p:spPr>
      </p:pic>
      <p:sp>
        <p:nvSpPr>
          <p:cNvPr id="37" name="Heading Feedback"/>
          <p:cNvSpPr txBox="1"/>
          <p:nvPr/>
        </p:nvSpPr>
        <p:spPr>
          <a:xfrm>
            <a:off x="4846320" y="376732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Feedback</a:t>
            </a:r>
            <a:endParaRPr lang="en-US" sz="1600" dirty="0"/>
          </a:p>
        </p:txBody>
      </p:sp>
      <p:sp>
        <p:nvSpPr>
          <p:cNvPr id="38" name="Body Reviews and average"/>
          <p:cNvSpPr txBox="1"/>
          <p:nvPr/>
        </p:nvSpPr>
        <p:spPr>
          <a:xfrm>
            <a:off x="4846320" y="4069080"/>
            <a:ext cx="1600200" cy="457200"/>
          </a:xfrm>
          <a:prstGeom prst="rect">
            <a:avLst/>
          </a:prstGeom>
          <a:noFill/>
          <a:ln/>
        </p:spPr>
        <p:txBody>
          <a:bodyPr wrap="square" lIns="0" tIns="0" rIns="0" bIns="0" rtlCol="0" anchor="t"/>
          <a:lstStyle/>
          <a:p>
            <a:pPr indent="0" marL="0">
              <a:buNone/>
            </a:pPr>
            <a:r>
              <a:rPr lang="en-US" sz="1400" dirty="0">
                <a:solidFill>
                  <a:schemeClr val="tx2"/>
                </a:solidFill>
              </a:rPr>
              <a:t>Reviews and average</a:t>
            </a:r>
            <a:endParaRPr lang="en-US" sz="1400" dirty="0"/>
          </a:p>
        </p:txBody>
      </p:sp>
      <p:sp>
        <p:nvSpPr>
          <p:cNvPr id="39" name="Page card Nav and footer"/>
          <p:cNvSpPr/>
          <p:nvPr/>
        </p:nvSpPr>
        <p:spPr>
          <a:xfrm>
            <a:off x="6766560" y="3017520"/>
            <a:ext cx="1920240" cy="1600200"/>
          </a:xfrm>
          <a:prstGeom prst="roundRect">
            <a:avLst>
              <a:gd name="adj" fmla="val 6857"/>
            </a:avLst>
          </a:prstGeom>
          <a:solidFill>
            <a:schemeClr val="accent5"/>
          </a:solidFill>
          <a:ln w="12700">
            <a:solidFill>
              <a:schemeClr val="accent4"/>
            </a:solidFill>
            <a:prstDash val="solid"/>
          </a:ln>
        </p:spPr>
      </p:sp>
      <p:sp>
        <p:nvSpPr>
          <p:cNvPr id="40" name="Nav and footer circle"/>
          <p:cNvSpPr/>
          <p:nvPr/>
        </p:nvSpPr>
        <p:spPr>
          <a:xfrm>
            <a:off x="6949440" y="3200400"/>
            <a:ext cx="457200" cy="457200"/>
          </a:xfrm>
          <a:prstGeom prst="ellipse">
            <a:avLst/>
          </a:prstGeom>
          <a:solidFill>
            <a:schemeClr val="accent1"/>
          </a:solidFill>
          <a:ln w="12700">
            <a:solidFill>
              <a:schemeClr val="accent1"/>
            </a:solidFill>
            <a:prstDash val="solid"/>
          </a:ln>
        </p:spPr>
      </p:sp>
      <p:pic>
        <p:nvPicPr>
          <p:cNvPr id="41" name="Nav and footer icon" descr="Nav and footer">    </p:cNvPr>
          <p:cNvPicPr>
            <a:picLocks noChangeAspect="1"/>
          </p:cNvPicPr>
          <p:nvPr/>
        </p:nvPicPr>
        <p:blipFill>
          <a:blip r:embed="rId8"/>
          <a:stretch>
            <a:fillRect/>
          </a:stretch>
        </p:blipFill>
        <p:spPr>
          <a:xfrm>
            <a:off x="7063740" y="3314700"/>
            <a:ext cx="228600" cy="228600"/>
          </a:xfrm>
          <a:prstGeom prst="rect">
            <a:avLst/>
          </a:prstGeom>
        </p:spPr>
      </p:pic>
      <p:sp>
        <p:nvSpPr>
          <p:cNvPr id="42" name="Heading Nav and footer"/>
          <p:cNvSpPr txBox="1"/>
          <p:nvPr/>
        </p:nvSpPr>
        <p:spPr>
          <a:xfrm>
            <a:off x="6949440" y="3767328"/>
            <a:ext cx="1645920" cy="274320"/>
          </a:xfrm>
          <a:prstGeom prst="rect">
            <a:avLst/>
          </a:prstGeom>
          <a:noFill/>
          <a:ln/>
        </p:spPr>
        <p:txBody>
          <a:bodyPr wrap="square" lIns="0" tIns="0" rIns="0" bIns="0" rtlCol="0" anchor="ctr"/>
          <a:lstStyle/>
          <a:p>
            <a:pPr indent="0" marL="0">
              <a:buNone/>
            </a:pPr>
            <a:r>
              <a:rPr lang="en-US" sz="1600" b="1" dirty="0">
                <a:solidFill>
                  <a:schemeClr val="accent3"/>
                </a:solidFill>
              </a:rPr>
              <a:t>Nav and footer</a:t>
            </a:r>
            <a:endParaRPr lang="en-US" sz="1600" dirty="0"/>
          </a:p>
        </p:txBody>
      </p:sp>
      <p:sp>
        <p:nvSpPr>
          <p:cNvPr id="43" name="Body Shown on every page"/>
          <p:cNvSpPr txBox="1"/>
          <p:nvPr/>
        </p:nvSpPr>
        <p:spPr>
          <a:xfrm>
            <a:off x="6949440" y="4069080"/>
            <a:ext cx="1600200" cy="457200"/>
          </a:xfrm>
          <a:prstGeom prst="rect">
            <a:avLst/>
          </a:prstGeom>
          <a:noFill/>
          <a:ln/>
        </p:spPr>
        <p:txBody>
          <a:bodyPr wrap="square" lIns="0" tIns="0" rIns="0" bIns="0" rtlCol="0" anchor="t"/>
          <a:lstStyle/>
          <a:p>
            <a:pPr indent="0" marL="0">
              <a:buNone/>
            </a:pPr>
            <a:r>
              <a:rPr lang="en-US" sz="1400" dirty="0">
                <a:solidFill>
                  <a:schemeClr val="tx2"/>
                </a:solidFill>
              </a:rPr>
              <a:t>Shown on every page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par>
                          <p:cTn id="40" fill="hold">
                            <p:stCondLst>
                              <p:cond delay="1560"/>
                            </p:stCondLst>
                            <p:childTnLst>
                              <p:par>
                                <p:cTn id="41" presetID="10"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childTnLst>
                          </p:cTn>
                        </p:par>
                        <p:par>
                          <p:cTn id="56" fill="hold">
                            <p:stCondLst>
                              <p:cond delay="208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5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childTnLst>
                          </p:cTn>
                        </p:par>
                        <p:par>
                          <p:cTn id="72" fill="hold">
                            <p:stCondLst>
                              <p:cond delay="2600"/>
                            </p:stCondLst>
                            <p:childTnLst>
                              <p:par>
                                <p:cTn id="73" presetID="10" presetClass="entr" presetSubtype="0" fill="hold" grpId="0" nodeType="after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45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45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45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5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450"/>
                                        <p:tgtEl>
                                          <p:spTgt spid="28"/>
                                        </p:tgtEl>
                                      </p:cBhvr>
                                    </p:animEffect>
                                  </p:childTnLst>
                                </p:cTn>
                              </p:par>
                            </p:childTnLst>
                          </p:cTn>
                        </p:par>
                        <p:par>
                          <p:cTn id="88" fill="hold">
                            <p:stCondLst>
                              <p:cond delay="3120"/>
                            </p:stCondLst>
                            <p:childTnLst>
                              <p:par>
                                <p:cTn id="89" presetID="10" presetClass="entr" presetSubtype="0" fill="hold" grpId="0" nodeType="after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50"/>
                                        <p:tgtEl>
                                          <p:spTgt spid="2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450"/>
                                        <p:tgtEl>
                                          <p:spTgt spid="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450"/>
                                        <p:tgtEl>
                                          <p:spTgt spid="3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450"/>
                                        <p:tgtEl>
                                          <p:spTgt spid="3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450"/>
                                        <p:tgtEl>
                                          <p:spTgt spid="33"/>
                                        </p:tgtEl>
                                      </p:cBhvr>
                                    </p:animEffect>
                                  </p:childTnLst>
                                </p:cTn>
                              </p:par>
                            </p:childTnLst>
                          </p:cTn>
                        </p:par>
                        <p:par>
                          <p:cTn id="104" fill="hold">
                            <p:stCondLst>
                              <p:cond delay="3640"/>
                            </p:stCondLst>
                            <p:childTnLst>
                              <p:par>
                                <p:cTn id="105" presetID="10" presetClass="entr" presetSubtype="0" fill="hold" grpId="0" nodeType="after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450"/>
                                        <p:tgtEl>
                                          <p:spTgt spid="3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450"/>
                                        <p:tgtEl>
                                          <p:spTgt spid="3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450"/>
                                        <p:tgtEl>
                                          <p:spTgt spid="3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450"/>
                                        <p:tgtEl>
                                          <p:spTgt spid="37"/>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450"/>
                                        <p:tgtEl>
                                          <p:spTgt spid="38"/>
                                        </p:tgtEl>
                                      </p:cBhvr>
                                    </p:animEffect>
                                  </p:childTnLst>
                                </p:cTn>
                              </p:par>
                            </p:childTnLst>
                          </p:cTn>
                        </p:par>
                        <p:par>
                          <p:cTn id="120" fill="hold">
                            <p:stCondLst>
                              <p:cond delay="4160"/>
                            </p:stCondLst>
                            <p:childTnLst>
                              <p:par>
                                <p:cTn id="121" presetID="10" presetClass="entr" presetSubtype="0" fill="hold" grpId="0" nodeType="after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450"/>
                                        <p:tgtEl>
                                          <p:spTgt spid="3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fade">
                                      <p:cBhvr>
                                        <p:cTn id="126" dur="450"/>
                                        <p:tgtEl>
                                          <p:spTgt spid="4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450"/>
                                        <p:tgtEl>
                                          <p:spTgt spid="4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2"/>
                                        </p:tgtEl>
                                        <p:attrNameLst>
                                          <p:attrName>style.visibility</p:attrName>
                                        </p:attrNameLst>
                                      </p:cBhvr>
                                      <p:to>
                                        <p:strVal val="visible"/>
                                      </p:to>
                                    </p:set>
                                    <p:animEffect transition="in" filter="fade">
                                      <p:cBhvr>
                                        <p:cTn id="132" dur="450"/>
                                        <p:tgtEl>
                                          <p:spTgt spid="42"/>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Technologies we used</a:t>
            </a:r>
            <a:endParaRPr lang="en-US" sz="3600" dirty="0"/>
          </a:p>
        </p:txBody>
      </p:sp>
      <p:sp>
        <p:nvSpPr>
          <p:cNvPr id="4" name="Tech card HTML5"/>
          <p:cNvSpPr/>
          <p:nvPr/>
        </p:nvSpPr>
        <p:spPr>
          <a:xfrm>
            <a:off x="457200" y="1280160"/>
            <a:ext cx="2651760" cy="1600200"/>
          </a:xfrm>
          <a:prstGeom prst="roundRect">
            <a:avLst>
              <a:gd name="adj" fmla="val 6857"/>
            </a:avLst>
          </a:prstGeom>
          <a:solidFill>
            <a:schemeClr val="bg2"/>
          </a:solidFill>
          <a:ln w="12700">
            <a:solidFill>
              <a:schemeClr val="accent4"/>
            </a:solidFill>
            <a:prstDash val="solid"/>
          </a:ln>
        </p:spPr>
      </p:sp>
      <p:sp>
        <p:nvSpPr>
          <p:cNvPr id="5" name="HTML5 circle"/>
          <p:cNvSpPr/>
          <p:nvPr/>
        </p:nvSpPr>
        <p:spPr>
          <a:xfrm>
            <a:off x="640080" y="1463040"/>
            <a:ext cx="457200" cy="457200"/>
          </a:xfrm>
          <a:prstGeom prst="ellipse">
            <a:avLst/>
          </a:prstGeom>
          <a:solidFill>
            <a:schemeClr val="accent1"/>
          </a:solidFill>
          <a:ln w="12700">
            <a:solidFill>
              <a:schemeClr val="accent1"/>
            </a:solidFill>
            <a:prstDash val="solid"/>
          </a:ln>
        </p:spPr>
      </p:sp>
      <p:pic>
        <p:nvPicPr>
          <p:cNvPr id="6" name="HTML5 icon" descr="HTML5">    </p:cNvPr>
          <p:cNvPicPr>
            <a:picLocks noChangeAspect="1"/>
          </p:cNvPicPr>
          <p:nvPr/>
        </p:nvPicPr>
        <p:blipFill>
          <a:blip r:embed="rId1"/>
          <a:stretch>
            <a:fillRect/>
          </a:stretch>
        </p:blipFill>
        <p:spPr>
          <a:xfrm>
            <a:off x="754380" y="1577340"/>
            <a:ext cx="228600" cy="228600"/>
          </a:xfrm>
          <a:prstGeom prst="rect">
            <a:avLst/>
          </a:prstGeom>
        </p:spPr>
      </p:pic>
      <p:sp>
        <p:nvSpPr>
          <p:cNvPr id="7" name="Heading HTML5"/>
          <p:cNvSpPr txBox="1"/>
          <p:nvPr/>
        </p:nvSpPr>
        <p:spPr>
          <a:xfrm>
            <a:off x="1234440" y="146304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HTML5</a:t>
            </a:r>
            <a:endParaRPr lang="en-US" sz="1600" dirty="0"/>
          </a:p>
        </p:txBody>
      </p:sp>
      <p:sp>
        <p:nvSpPr>
          <p:cNvPr id="8" name="Body Page structure: nav,"/>
          <p:cNvSpPr txBox="1"/>
          <p:nvPr/>
        </p:nvSpPr>
        <p:spPr>
          <a:xfrm>
            <a:off x="640080" y="2057400"/>
            <a:ext cx="2286000" cy="777240"/>
          </a:xfrm>
          <a:prstGeom prst="rect">
            <a:avLst/>
          </a:prstGeom>
          <a:noFill/>
          <a:ln/>
        </p:spPr>
        <p:txBody>
          <a:bodyPr wrap="square" lIns="0" tIns="0" rIns="0" bIns="0" rtlCol="0" anchor="t"/>
          <a:lstStyle/>
          <a:p>
            <a:pPr indent="0" marL="0">
              <a:buNone/>
            </a:pPr>
            <a:r>
              <a:rPr lang="en-US" sz="1400" dirty="0">
                <a:solidFill>
                  <a:schemeClr val="tx1"/>
                </a:solidFill>
              </a:rPr>
              <a:t>Page structure: nav, main, footer and 7 page sections in one file.</a:t>
            </a:r>
            <a:endParaRPr lang="en-US" sz="1400" dirty="0"/>
          </a:p>
        </p:txBody>
      </p:sp>
      <p:sp>
        <p:nvSpPr>
          <p:cNvPr id="9" name="Tech card CSS3"/>
          <p:cNvSpPr/>
          <p:nvPr/>
        </p:nvSpPr>
        <p:spPr>
          <a:xfrm>
            <a:off x="3246120" y="1280160"/>
            <a:ext cx="2651760" cy="1600200"/>
          </a:xfrm>
          <a:prstGeom prst="roundRect">
            <a:avLst>
              <a:gd name="adj" fmla="val 6857"/>
            </a:avLst>
          </a:prstGeom>
          <a:solidFill>
            <a:schemeClr val="bg2"/>
          </a:solidFill>
          <a:ln w="12700">
            <a:solidFill>
              <a:schemeClr val="accent4"/>
            </a:solidFill>
            <a:prstDash val="solid"/>
          </a:ln>
        </p:spPr>
      </p:sp>
      <p:sp>
        <p:nvSpPr>
          <p:cNvPr id="10" name="CSS3 circle"/>
          <p:cNvSpPr/>
          <p:nvPr/>
        </p:nvSpPr>
        <p:spPr>
          <a:xfrm>
            <a:off x="3429000" y="1463040"/>
            <a:ext cx="457200" cy="457200"/>
          </a:xfrm>
          <a:prstGeom prst="ellipse">
            <a:avLst/>
          </a:prstGeom>
          <a:solidFill>
            <a:schemeClr val="accent1"/>
          </a:solidFill>
          <a:ln w="12700">
            <a:solidFill>
              <a:schemeClr val="accent1"/>
            </a:solidFill>
            <a:prstDash val="solid"/>
          </a:ln>
        </p:spPr>
      </p:sp>
      <p:pic>
        <p:nvPicPr>
          <p:cNvPr id="11" name="CSS3 icon" descr="CSS3">    </p:cNvPr>
          <p:cNvPicPr>
            <a:picLocks noChangeAspect="1"/>
          </p:cNvPicPr>
          <p:nvPr/>
        </p:nvPicPr>
        <p:blipFill>
          <a:blip r:embed="rId2"/>
          <a:stretch>
            <a:fillRect/>
          </a:stretch>
        </p:blipFill>
        <p:spPr>
          <a:xfrm>
            <a:off x="3543300" y="1577340"/>
            <a:ext cx="228600" cy="228600"/>
          </a:xfrm>
          <a:prstGeom prst="rect">
            <a:avLst/>
          </a:prstGeom>
        </p:spPr>
      </p:pic>
      <p:sp>
        <p:nvSpPr>
          <p:cNvPr id="12" name="Heading CSS3"/>
          <p:cNvSpPr txBox="1"/>
          <p:nvPr/>
        </p:nvSpPr>
        <p:spPr>
          <a:xfrm>
            <a:off x="4023360" y="146304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CSS3</a:t>
            </a:r>
            <a:endParaRPr lang="en-US" sz="1600" dirty="0"/>
          </a:p>
        </p:txBody>
      </p:sp>
      <p:sp>
        <p:nvSpPr>
          <p:cNvPr id="13" name="Body Colors, grids, anima"/>
          <p:cNvSpPr txBox="1"/>
          <p:nvPr/>
        </p:nvSpPr>
        <p:spPr>
          <a:xfrm>
            <a:off x="3429000" y="2057400"/>
            <a:ext cx="2286000" cy="777240"/>
          </a:xfrm>
          <a:prstGeom prst="rect">
            <a:avLst/>
          </a:prstGeom>
          <a:noFill/>
          <a:ln/>
        </p:spPr>
        <p:txBody>
          <a:bodyPr wrap="square" lIns="0" tIns="0" rIns="0" bIns="0" rtlCol="0" anchor="t"/>
          <a:lstStyle/>
          <a:p>
            <a:pPr indent="0" marL="0">
              <a:buNone/>
            </a:pPr>
            <a:r>
              <a:rPr lang="en-US" sz="1400" dirty="0">
                <a:solidFill>
                  <a:schemeClr val="tx1"/>
                </a:solidFill>
              </a:rPr>
              <a:t>Colors, grids, animations and mobile layout using CSS variables.</a:t>
            </a:r>
            <a:endParaRPr lang="en-US" sz="1400" dirty="0"/>
          </a:p>
        </p:txBody>
      </p:sp>
      <p:sp>
        <p:nvSpPr>
          <p:cNvPr id="14" name="Tech card JavaScript"/>
          <p:cNvSpPr/>
          <p:nvPr/>
        </p:nvSpPr>
        <p:spPr>
          <a:xfrm>
            <a:off x="6035040" y="1280160"/>
            <a:ext cx="2651760" cy="1600200"/>
          </a:xfrm>
          <a:prstGeom prst="roundRect">
            <a:avLst>
              <a:gd name="adj" fmla="val 6857"/>
            </a:avLst>
          </a:prstGeom>
          <a:solidFill>
            <a:schemeClr val="bg2"/>
          </a:solidFill>
          <a:ln w="12700">
            <a:solidFill>
              <a:schemeClr val="accent4"/>
            </a:solidFill>
            <a:prstDash val="solid"/>
          </a:ln>
        </p:spPr>
      </p:sp>
      <p:sp>
        <p:nvSpPr>
          <p:cNvPr id="15" name="JavaScript circle"/>
          <p:cNvSpPr/>
          <p:nvPr/>
        </p:nvSpPr>
        <p:spPr>
          <a:xfrm>
            <a:off x="6217920" y="1463040"/>
            <a:ext cx="457200" cy="457200"/>
          </a:xfrm>
          <a:prstGeom prst="ellipse">
            <a:avLst/>
          </a:prstGeom>
          <a:solidFill>
            <a:schemeClr val="accent1"/>
          </a:solidFill>
          <a:ln w="12700">
            <a:solidFill>
              <a:schemeClr val="accent1"/>
            </a:solidFill>
            <a:prstDash val="solid"/>
          </a:ln>
        </p:spPr>
      </p:sp>
      <p:pic>
        <p:nvPicPr>
          <p:cNvPr id="16" name="JavaScript icon" descr="JavaScript">    </p:cNvPr>
          <p:cNvPicPr>
            <a:picLocks noChangeAspect="1"/>
          </p:cNvPicPr>
          <p:nvPr/>
        </p:nvPicPr>
        <p:blipFill>
          <a:blip r:embed="rId3"/>
          <a:stretch>
            <a:fillRect/>
          </a:stretch>
        </p:blipFill>
        <p:spPr>
          <a:xfrm>
            <a:off x="6332220" y="1577340"/>
            <a:ext cx="228600" cy="228600"/>
          </a:xfrm>
          <a:prstGeom prst="rect">
            <a:avLst/>
          </a:prstGeom>
        </p:spPr>
      </p:pic>
      <p:sp>
        <p:nvSpPr>
          <p:cNvPr id="17" name="Heading JavaScript"/>
          <p:cNvSpPr txBox="1"/>
          <p:nvPr/>
        </p:nvSpPr>
        <p:spPr>
          <a:xfrm>
            <a:off x="6812280" y="146304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JavaScript</a:t>
            </a:r>
            <a:endParaRPr lang="en-US" sz="1600" dirty="0"/>
          </a:p>
        </p:txBody>
      </p:sp>
      <p:sp>
        <p:nvSpPr>
          <p:cNvPr id="18" name="Body Builds the gallery, "/>
          <p:cNvSpPr txBox="1"/>
          <p:nvPr/>
        </p:nvSpPr>
        <p:spPr>
          <a:xfrm>
            <a:off x="6217920" y="2057400"/>
            <a:ext cx="2286000" cy="777240"/>
          </a:xfrm>
          <a:prstGeom prst="rect">
            <a:avLst/>
          </a:prstGeom>
          <a:noFill/>
          <a:ln/>
        </p:spPr>
        <p:txBody>
          <a:bodyPr wrap="square" lIns="0" tIns="0" rIns="0" bIns="0" rtlCol="0" anchor="t"/>
          <a:lstStyle/>
          <a:p>
            <a:pPr indent="0" marL="0">
              <a:buNone/>
            </a:pPr>
            <a:r>
              <a:rPr lang="en-US" sz="1400" dirty="0">
                <a:solidFill>
                  <a:schemeClr val="tx1"/>
                </a:solidFill>
              </a:rPr>
              <a:t>Builds the gallery, tables and booking form logic. No framework.</a:t>
            </a:r>
            <a:endParaRPr lang="en-US" sz="1400" dirty="0"/>
          </a:p>
        </p:txBody>
      </p:sp>
      <p:sp>
        <p:nvSpPr>
          <p:cNvPr id="19" name="Tech card Three.js"/>
          <p:cNvSpPr/>
          <p:nvPr/>
        </p:nvSpPr>
        <p:spPr>
          <a:xfrm>
            <a:off x="457200" y="3017520"/>
            <a:ext cx="2651760" cy="1600200"/>
          </a:xfrm>
          <a:prstGeom prst="roundRect">
            <a:avLst>
              <a:gd name="adj" fmla="val 6857"/>
            </a:avLst>
          </a:prstGeom>
          <a:solidFill>
            <a:schemeClr val="bg2"/>
          </a:solidFill>
          <a:ln w="12700">
            <a:solidFill>
              <a:schemeClr val="accent4"/>
            </a:solidFill>
            <a:prstDash val="solid"/>
          </a:ln>
        </p:spPr>
      </p:sp>
      <p:sp>
        <p:nvSpPr>
          <p:cNvPr id="20" name="Three.js circle"/>
          <p:cNvSpPr/>
          <p:nvPr/>
        </p:nvSpPr>
        <p:spPr>
          <a:xfrm>
            <a:off x="640080" y="3200400"/>
            <a:ext cx="457200" cy="457200"/>
          </a:xfrm>
          <a:prstGeom prst="ellipse">
            <a:avLst/>
          </a:prstGeom>
          <a:solidFill>
            <a:schemeClr val="accent1"/>
          </a:solidFill>
          <a:ln w="12700">
            <a:solidFill>
              <a:schemeClr val="accent1"/>
            </a:solidFill>
            <a:prstDash val="solid"/>
          </a:ln>
        </p:spPr>
      </p:sp>
      <p:pic>
        <p:nvPicPr>
          <p:cNvPr id="21" name="Three.js icon" descr="Three.js">    </p:cNvPr>
          <p:cNvPicPr>
            <a:picLocks noChangeAspect="1"/>
          </p:cNvPicPr>
          <p:nvPr/>
        </p:nvPicPr>
        <p:blipFill>
          <a:blip r:embed="rId4"/>
          <a:stretch>
            <a:fillRect/>
          </a:stretch>
        </p:blipFill>
        <p:spPr>
          <a:xfrm>
            <a:off x="754380" y="3314700"/>
            <a:ext cx="228600" cy="228600"/>
          </a:xfrm>
          <a:prstGeom prst="rect">
            <a:avLst/>
          </a:prstGeom>
        </p:spPr>
      </p:pic>
      <p:sp>
        <p:nvSpPr>
          <p:cNvPr id="22" name="Heading Three.js"/>
          <p:cNvSpPr txBox="1"/>
          <p:nvPr/>
        </p:nvSpPr>
        <p:spPr>
          <a:xfrm>
            <a:off x="1234440" y="320040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Three.js</a:t>
            </a:r>
            <a:endParaRPr lang="en-US" sz="1600" dirty="0"/>
          </a:p>
        </p:txBody>
      </p:sp>
      <p:sp>
        <p:nvSpPr>
          <p:cNvPr id="23" name="Body A 3D hologram fish t"/>
          <p:cNvSpPr txBox="1"/>
          <p:nvPr/>
        </p:nvSpPr>
        <p:spPr>
          <a:xfrm>
            <a:off x="640080" y="3794760"/>
            <a:ext cx="2286000" cy="777240"/>
          </a:xfrm>
          <a:prstGeom prst="rect">
            <a:avLst/>
          </a:prstGeom>
          <a:noFill/>
          <a:ln/>
        </p:spPr>
        <p:txBody>
          <a:bodyPr wrap="square" lIns="0" tIns="0" rIns="0" bIns="0" rtlCol="0" anchor="t"/>
          <a:lstStyle/>
          <a:p>
            <a:pPr indent="0" marL="0">
              <a:buNone/>
            </a:pPr>
            <a:r>
              <a:rPr lang="en-US" sz="1400" dirty="0">
                <a:solidFill>
                  <a:schemeClr val="tx1"/>
                </a:solidFill>
              </a:rPr>
              <a:t>A 3D hologram fish that swims and follows the cursor.</a:t>
            </a:r>
            <a:endParaRPr lang="en-US" sz="1400" dirty="0"/>
          </a:p>
        </p:txBody>
      </p:sp>
      <p:sp>
        <p:nvSpPr>
          <p:cNvPr id="24" name="Tech card Google Fonts"/>
          <p:cNvSpPr/>
          <p:nvPr/>
        </p:nvSpPr>
        <p:spPr>
          <a:xfrm>
            <a:off x="3246120" y="3017520"/>
            <a:ext cx="2651760" cy="1600200"/>
          </a:xfrm>
          <a:prstGeom prst="roundRect">
            <a:avLst>
              <a:gd name="adj" fmla="val 6857"/>
            </a:avLst>
          </a:prstGeom>
          <a:solidFill>
            <a:schemeClr val="bg2"/>
          </a:solidFill>
          <a:ln w="12700">
            <a:solidFill>
              <a:schemeClr val="accent4"/>
            </a:solidFill>
            <a:prstDash val="solid"/>
          </a:ln>
        </p:spPr>
      </p:sp>
      <p:sp>
        <p:nvSpPr>
          <p:cNvPr id="25" name="Google Fonts circle"/>
          <p:cNvSpPr/>
          <p:nvPr/>
        </p:nvSpPr>
        <p:spPr>
          <a:xfrm>
            <a:off x="3429000" y="3200400"/>
            <a:ext cx="457200" cy="457200"/>
          </a:xfrm>
          <a:prstGeom prst="ellipse">
            <a:avLst/>
          </a:prstGeom>
          <a:solidFill>
            <a:schemeClr val="accent1"/>
          </a:solidFill>
          <a:ln w="12700">
            <a:solidFill>
              <a:schemeClr val="accent1"/>
            </a:solidFill>
            <a:prstDash val="solid"/>
          </a:ln>
        </p:spPr>
      </p:sp>
      <p:pic>
        <p:nvPicPr>
          <p:cNvPr id="26" name="Google Fonts icon" descr="Google Fonts">    </p:cNvPr>
          <p:cNvPicPr>
            <a:picLocks noChangeAspect="1"/>
          </p:cNvPicPr>
          <p:nvPr/>
        </p:nvPicPr>
        <p:blipFill>
          <a:blip r:embed="rId5"/>
          <a:stretch>
            <a:fillRect/>
          </a:stretch>
        </p:blipFill>
        <p:spPr>
          <a:xfrm>
            <a:off x="3543300" y="3314700"/>
            <a:ext cx="228600" cy="228600"/>
          </a:xfrm>
          <a:prstGeom prst="rect">
            <a:avLst/>
          </a:prstGeom>
        </p:spPr>
      </p:pic>
      <p:sp>
        <p:nvSpPr>
          <p:cNvPr id="27" name="Heading Google Fonts"/>
          <p:cNvSpPr txBox="1"/>
          <p:nvPr/>
        </p:nvSpPr>
        <p:spPr>
          <a:xfrm>
            <a:off x="4023360" y="320040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Google Fonts</a:t>
            </a:r>
            <a:endParaRPr lang="en-US" sz="1600" dirty="0"/>
          </a:p>
        </p:txBody>
      </p:sp>
      <p:sp>
        <p:nvSpPr>
          <p:cNvPr id="28" name="Body Fraunces for heading"/>
          <p:cNvSpPr txBox="1"/>
          <p:nvPr/>
        </p:nvSpPr>
        <p:spPr>
          <a:xfrm>
            <a:off x="3429000" y="3794760"/>
            <a:ext cx="2286000" cy="777240"/>
          </a:xfrm>
          <a:prstGeom prst="rect">
            <a:avLst/>
          </a:prstGeom>
          <a:noFill/>
          <a:ln/>
        </p:spPr>
        <p:txBody>
          <a:bodyPr wrap="square" lIns="0" tIns="0" rIns="0" bIns="0" rtlCol="0" anchor="t"/>
          <a:lstStyle/>
          <a:p>
            <a:pPr indent="0" marL="0">
              <a:buNone/>
            </a:pPr>
            <a:r>
              <a:rPr lang="en-US" sz="1400" dirty="0">
                <a:solidFill>
                  <a:schemeClr val="tx1"/>
                </a:solidFill>
              </a:rPr>
              <a:t>Fraunces for headings, Nunito Sans for body text.</a:t>
            </a:r>
            <a:endParaRPr lang="en-US" sz="1400" dirty="0"/>
          </a:p>
        </p:txBody>
      </p:sp>
      <p:sp>
        <p:nvSpPr>
          <p:cNvPr id="29" name="Tech card SVG and media"/>
          <p:cNvSpPr/>
          <p:nvPr/>
        </p:nvSpPr>
        <p:spPr>
          <a:xfrm>
            <a:off x="6035040" y="3017520"/>
            <a:ext cx="2651760" cy="1600200"/>
          </a:xfrm>
          <a:prstGeom prst="roundRect">
            <a:avLst>
              <a:gd name="adj" fmla="val 6857"/>
            </a:avLst>
          </a:prstGeom>
          <a:solidFill>
            <a:schemeClr val="bg2"/>
          </a:solidFill>
          <a:ln w="12700">
            <a:solidFill>
              <a:schemeClr val="accent4"/>
            </a:solidFill>
            <a:prstDash val="solid"/>
          </a:ln>
        </p:spPr>
      </p:sp>
      <p:sp>
        <p:nvSpPr>
          <p:cNvPr id="30" name="SVG and media circle"/>
          <p:cNvSpPr/>
          <p:nvPr/>
        </p:nvSpPr>
        <p:spPr>
          <a:xfrm>
            <a:off x="6217920" y="3200400"/>
            <a:ext cx="457200" cy="457200"/>
          </a:xfrm>
          <a:prstGeom prst="ellipse">
            <a:avLst/>
          </a:prstGeom>
          <a:solidFill>
            <a:schemeClr val="accent1"/>
          </a:solidFill>
          <a:ln w="12700">
            <a:solidFill>
              <a:schemeClr val="accent1"/>
            </a:solidFill>
            <a:prstDash val="solid"/>
          </a:ln>
        </p:spPr>
      </p:sp>
      <p:pic>
        <p:nvPicPr>
          <p:cNvPr id="31" name="SVG and media icon" descr="SVG and media">    </p:cNvPr>
          <p:cNvPicPr>
            <a:picLocks noChangeAspect="1"/>
          </p:cNvPicPr>
          <p:nvPr/>
        </p:nvPicPr>
        <p:blipFill>
          <a:blip r:embed="rId6"/>
          <a:stretch>
            <a:fillRect/>
          </a:stretch>
        </p:blipFill>
        <p:spPr>
          <a:xfrm>
            <a:off x="6332220" y="3314700"/>
            <a:ext cx="228600" cy="228600"/>
          </a:xfrm>
          <a:prstGeom prst="rect">
            <a:avLst/>
          </a:prstGeom>
        </p:spPr>
      </p:pic>
      <p:sp>
        <p:nvSpPr>
          <p:cNvPr id="32" name="Heading SVG and media"/>
          <p:cNvSpPr txBox="1"/>
          <p:nvPr/>
        </p:nvSpPr>
        <p:spPr>
          <a:xfrm>
            <a:off x="6812280" y="320040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SVG and media</a:t>
            </a:r>
            <a:endParaRPr lang="en-US" sz="1600" dirty="0"/>
          </a:p>
        </p:txBody>
      </p:sp>
      <p:sp>
        <p:nvSpPr>
          <p:cNvPr id="33" name="Body SVG logo, photos (.j"/>
          <p:cNvSpPr txBox="1"/>
          <p:nvPr/>
        </p:nvSpPr>
        <p:spPr>
          <a:xfrm>
            <a:off x="6217920" y="3794760"/>
            <a:ext cx="2286000" cy="777240"/>
          </a:xfrm>
          <a:prstGeom prst="rect">
            <a:avLst/>
          </a:prstGeom>
          <a:noFill/>
          <a:ln/>
        </p:spPr>
        <p:txBody>
          <a:bodyPr wrap="square" lIns="0" tIns="0" rIns="0" bIns="0" rtlCol="0" anchor="t"/>
          <a:lstStyle/>
          <a:p>
            <a:pPr indent="0" marL="0">
              <a:buNone/>
            </a:pPr>
            <a:r>
              <a:rPr lang="en-US" sz="1400" dirty="0">
                <a:solidFill>
                  <a:schemeClr val="tx1"/>
                </a:solidFill>
              </a:rPr>
              <a:t>SVG logo, photos (.jpeg, .jfif) and a looping .mp4 video.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par>
                          <p:cTn id="40" fill="hold">
                            <p:stCondLst>
                              <p:cond delay="1560"/>
                            </p:stCondLst>
                            <p:childTnLst>
                              <p:par>
                                <p:cTn id="41" presetID="10"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childTnLst>
                          </p:cTn>
                        </p:par>
                        <p:par>
                          <p:cTn id="56" fill="hold">
                            <p:stCondLst>
                              <p:cond delay="208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5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childTnLst>
                          </p:cTn>
                        </p:par>
                        <p:par>
                          <p:cTn id="72" fill="hold">
                            <p:stCondLst>
                              <p:cond delay="2600"/>
                            </p:stCondLst>
                            <p:childTnLst>
                              <p:par>
                                <p:cTn id="73" presetID="10" presetClass="entr" presetSubtype="0" fill="hold" grpId="0" nodeType="after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45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45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45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5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450"/>
                                        <p:tgtEl>
                                          <p:spTgt spid="28"/>
                                        </p:tgtEl>
                                      </p:cBhvr>
                                    </p:animEffect>
                                  </p:childTnLst>
                                </p:cTn>
                              </p:par>
                            </p:childTnLst>
                          </p:cTn>
                        </p:par>
                        <p:par>
                          <p:cTn id="88" fill="hold">
                            <p:stCondLst>
                              <p:cond delay="3120"/>
                            </p:stCondLst>
                            <p:childTnLst>
                              <p:par>
                                <p:cTn id="89" presetID="10" presetClass="entr" presetSubtype="0" fill="hold" grpId="0" nodeType="after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50"/>
                                        <p:tgtEl>
                                          <p:spTgt spid="2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450"/>
                                        <p:tgtEl>
                                          <p:spTgt spid="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450"/>
                                        <p:tgtEl>
                                          <p:spTgt spid="3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450"/>
                                        <p:tgtEl>
                                          <p:spTgt spid="3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Colors, fonts and style</a:t>
            </a:r>
            <a:endParaRPr lang="en-US" sz="3600" dirty="0"/>
          </a:p>
        </p:txBody>
      </p:sp>
      <p:sp>
        <p:nvSpPr>
          <p:cNvPr id="4" name="Swatch Deep Night"/>
          <p:cNvSpPr/>
          <p:nvPr/>
        </p:nvSpPr>
        <p:spPr>
          <a:xfrm>
            <a:off x="457200" y="1280160"/>
            <a:ext cx="1554480" cy="914400"/>
          </a:xfrm>
          <a:prstGeom prst="roundRect">
            <a:avLst>
              <a:gd name="adj" fmla="val 10000"/>
            </a:avLst>
          </a:prstGeom>
          <a:solidFill>
            <a:srgbClr val="041B1B"/>
          </a:solidFill>
          <a:ln w="12700">
            <a:solidFill>
              <a:srgbClr val="164747"/>
            </a:solidFill>
          </a:ln>
        </p:spPr>
        <p:txBody>
          <a:bodyPr wrap="square" lIns="0" tIns="0" rIns="0" bIns="0" rtlCol="0" anchor="ctr"/>
          <a:lstStyle/>
          <a:p>
            <a:pPr algn="ctr" indent="0" marL="0">
              <a:buNone/>
            </a:pPr>
            <a:r>
              <a:rPr lang="en-US" sz="1400" b="1" dirty="0">
                <a:solidFill>
                  <a:srgbClr val="D8F3F3"/>
                </a:solidFill>
              </a:rPr>
              <a:t>Deep Night</a:t>
            </a:r>
            <a:endParaRPr lang="en-US" sz="1400" dirty="0"/>
          </a:p>
        </p:txBody>
      </p:sp>
      <p:sp>
        <p:nvSpPr>
          <p:cNvPr id="5" name="Body #041B1B"/>
          <p:cNvSpPr txBox="1"/>
          <p:nvPr/>
        </p:nvSpPr>
        <p:spPr>
          <a:xfrm>
            <a:off x="457200" y="2267712"/>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#041B1B</a:t>
            </a:r>
            <a:endParaRPr lang="en-US" sz="1200" dirty="0"/>
          </a:p>
        </p:txBody>
      </p:sp>
      <p:sp>
        <p:nvSpPr>
          <p:cNvPr id="6" name="Swatch Panel"/>
          <p:cNvSpPr/>
          <p:nvPr/>
        </p:nvSpPr>
        <p:spPr>
          <a:xfrm>
            <a:off x="2148840" y="1280160"/>
            <a:ext cx="1554480" cy="914400"/>
          </a:xfrm>
          <a:prstGeom prst="roundRect">
            <a:avLst>
              <a:gd name="adj" fmla="val 10000"/>
            </a:avLst>
          </a:prstGeom>
          <a:solidFill>
            <a:srgbClr val="082727"/>
          </a:solidFill>
          <a:ln w="12700">
            <a:solidFill>
              <a:srgbClr val="164747"/>
            </a:solidFill>
          </a:ln>
        </p:spPr>
        <p:txBody>
          <a:bodyPr wrap="square" lIns="0" tIns="0" rIns="0" bIns="0" rtlCol="0" anchor="ctr"/>
          <a:lstStyle/>
          <a:p>
            <a:pPr algn="ctr" indent="0" marL="0">
              <a:buNone/>
            </a:pPr>
            <a:r>
              <a:rPr lang="en-US" sz="1400" b="1" dirty="0">
                <a:solidFill>
                  <a:srgbClr val="D8F3F3"/>
                </a:solidFill>
              </a:rPr>
              <a:t>Panel</a:t>
            </a:r>
            <a:endParaRPr lang="en-US" sz="1400" dirty="0"/>
          </a:p>
        </p:txBody>
      </p:sp>
      <p:sp>
        <p:nvSpPr>
          <p:cNvPr id="7" name="Body #082727"/>
          <p:cNvSpPr txBox="1"/>
          <p:nvPr/>
        </p:nvSpPr>
        <p:spPr>
          <a:xfrm>
            <a:off x="2148840" y="2267712"/>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#082727</a:t>
            </a:r>
            <a:endParaRPr lang="en-US" sz="1200" dirty="0"/>
          </a:p>
        </p:txBody>
      </p:sp>
      <p:sp>
        <p:nvSpPr>
          <p:cNvPr id="8" name="Swatch Sea Teal"/>
          <p:cNvSpPr/>
          <p:nvPr/>
        </p:nvSpPr>
        <p:spPr>
          <a:xfrm>
            <a:off x="3840480" y="1280160"/>
            <a:ext cx="1554480" cy="914400"/>
          </a:xfrm>
          <a:prstGeom prst="roundRect">
            <a:avLst>
              <a:gd name="adj" fmla="val 10000"/>
            </a:avLst>
          </a:prstGeom>
          <a:solidFill>
            <a:srgbClr val="008080"/>
          </a:solidFill>
          <a:ln w="12700">
            <a:solidFill>
              <a:srgbClr val="008080"/>
            </a:solidFill>
          </a:ln>
        </p:spPr>
        <p:txBody>
          <a:bodyPr wrap="square" lIns="0" tIns="0" rIns="0" bIns="0" rtlCol="0" anchor="ctr"/>
          <a:lstStyle/>
          <a:p>
            <a:pPr algn="ctr" indent="0" marL="0">
              <a:buNone/>
            </a:pPr>
            <a:r>
              <a:rPr lang="en-US" sz="1400" b="1" dirty="0">
                <a:solidFill>
                  <a:srgbClr val="FFFFFF"/>
                </a:solidFill>
              </a:rPr>
              <a:t>Sea Teal</a:t>
            </a:r>
            <a:endParaRPr lang="en-US" sz="1400" dirty="0"/>
          </a:p>
        </p:txBody>
      </p:sp>
      <p:sp>
        <p:nvSpPr>
          <p:cNvPr id="9" name="Body #008080"/>
          <p:cNvSpPr txBox="1"/>
          <p:nvPr/>
        </p:nvSpPr>
        <p:spPr>
          <a:xfrm>
            <a:off x="3840480" y="2267712"/>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#008080</a:t>
            </a:r>
            <a:endParaRPr lang="en-US" sz="1200" dirty="0"/>
          </a:p>
        </p:txBody>
      </p:sp>
      <p:sp>
        <p:nvSpPr>
          <p:cNvPr id="10" name="Swatch Aqua"/>
          <p:cNvSpPr/>
          <p:nvPr/>
        </p:nvSpPr>
        <p:spPr>
          <a:xfrm>
            <a:off x="457200" y="2880360"/>
            <a:ext cx="1554480" cy="914400"/>
          </a:xfrm>
          <a:prstGeom prst="roundRect">
            <a:avLst>
              <a:gd name="adj" fmla="val 10000"/>
            </a:avLst>
          </a:prstGeom>
          <a:solidFill>
            <a:srgbClr val="4FB8B8"/>
          </a:solidFill>
          <a:ln w="12700">
            <a:solidFill>
              <a:srgbClr val="4FB8B8"/>
            </a:solidFill>
          </a:ln>
        </p:spPr>
        <p:txBody>
          <a:bodyPr wrap="square" lIns="0" tIns="0" rIns="0" bIns="0" rtlCol="0" anchor="ctr"/>
          <a:lstStyle/>
          <a:p>
            <a:pPr algn="ctr" indent="0" marL="0">
              <a:buNone/>
            </a:pPr>
            <a:r>
              <a:rPr lang="en-US" sz="1400" b="1" dirty="0">
                <a:solidFill>
                  <a:srgbClr val="041B1B"/>
                </a:solidFill>
              </a:rPr>
              <a:t>Aqua</a:t>
            </a:r>
            <a:endParaRPr lang="en-US" sz="1400" dirty="0"/>
          </a:p>
        </p:txBody>
      </p:sp>
      <p:sp>
        <p:nvSpPr>
          <p:cNvPr id="11" name="Body #4FB8B8"/>
          <p:cNvSpPr txBox="1"/>
          <p:nvPr/>
        </p:nvSpPr>
        <p:spPr>
          <a:xfrm>
            <a:off x="457200" y="3867912"/>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#4FB8B8</a:t>
            </a:r>
            <a:endParaRPr lang="en-US" sz="1200" dirty="0"/>
          </a:p>
        </p:txBody>
      </p:sp>
      <p:sp>
        <p:nvSpPr>
          <p:cNvPr id="12" name="Swatch Coral Gold"/>
          <p:cNvSpPr/>
          <p:nvPr/>
        </p:nvSpPr>
        <p:spPr>
          <a:xfrm>
            <a:off x="2148840" y="2880360"/>
            <a:ext cx="1554480" cy="914400"/>
          </a:xfrm>
          <a:prstGeom prst="roundRect">
            <a:avLst>
              <a:gd name="adj" fmla="val 10000"/>
            </a:avLst>
          </a:prstGeom>
          <a:solidFill>
            <a:srgbClr val="F28C38"/>
          </a:solidFill>
          <a:ln w="12700">
            <a:solidFill>
              <a:srgbClr val="F28C38"/>
            </a:solidFill>
          </a:ln>
        </p:spPr>
        <p:txBody>
          <a:bodyPr wrap="square" lIns="0" tIns="0" rIns="0" bIns="0" rtlCol="0" anchor="ctr"/>
          <a:lstStyle/>
          <a:p>
            <a:pPr algn="ctr" indent="0" marL="0">
              <a:buNone/>
            </a:pPr>
            <a:r>
              <a:rPr lang="en-US" sz="1400" b="1" dirty="0">
                <a:solidFill>
                  <a:srgbClr val="3D1F00"/>
                </a:solidFill>
              </a:rPr>
              <a:t>Coral Gold</a:t>
            </a:r>
            <a:endParaRPr lang="en-US" sz="1400" dirty="0"/>
          </a:p>
        </p:txBody>
      </p:sp>
      <p:sp>
        <p:nvSpPr>
          <p:cNvPr id="13" name="Body #F28C38"/>
          <p:cNvSpPr txBox="1"/>
          <p:nvPr/>
        </p:nvSpPr>
        <p:spPr>
          <a:xfrm>
            <a:off x="2148840" y="3867912"/>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#F28C38</a:t>
            </a:r>
            <a:endParaRPr lang="en-US" sz="1200" dirty="0"/>
          </a:p>
        </p:txBody>
      </p:sp>
      <p:sp>
        <p:nvSpPr>
          <p:cNvPr id="14" name="Swatch Mist"/>
          <p:cNvSpPr/>
          <p:nvPr/>
        </p:nvSpPr>
        <p:spPr>
          <a:xfrm>
            <a:off x="3840480" y="2880360"/>
            <a:ext cx="1554480" cy="914400"/>
          </a:xfrm>
          <a:prstGeom prst="roundRect">
            <a:avLst>
              <a:gd name="adj" fmla="val 10000"/>
            </a:avLst>
          </a:prstGeom>
          <a:solidFill>
            <a:srgbClr val="D8F3F3"/>
          </a:solidFill>
          <a:ln w="12700">
            <a:solidFill>
              <a:srgbClr val="D8F3F3"/>
            </a:solidFill>
          </a:ln>
        </p:spPr>
        <p:txBody>
          <a:bodyPr wrap="square" lIns="0" tIns="0" rIns="0" bIns="0" rtlCol="0" anchor="ctr"/>
          <a:lstStyle/>
          <a:p>
            <a:pPr algn="ctr" indent="0" marL="0">
              <a:buNone/>
            </a:pPr>
            <a:r>
              <a:rPr lang="en-US" sz="1400" b="1" dirty="0">
                <a:solidFill>
                  <a:srgbClr val="041B1B"/>
                </a:solidFill>
              </a:rPr>
              <a:t>Mist</a:t>
            </a:r>
            <a:endParaRPr lang="en-US" sz="1400" dirty="0"/>
          </a:p>
        </p:txBody>
      </p:sp>
      <p:sp>
        <p:nvSpPr>
          <p:cNvPr id="15" name="Body #D8F3F3"/>
          <p:cNvSpPr txBox="1"/>
          <p:nvPr/>
        </p:nvSpPr>
        <p:spPr>
          <a:xfrm>
            <a:off x="3840480" y="3867912"/>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#D8F3F3</a:t>
            </a:r>
            <a:endParaRPr lang="en-US" sz="1200" dirty="0"/>
          </a:p>
        </p:txBody>
      </p:sp>
      <p:sp>
        <p:nvSpPr>
          <p:cNvPr id="16" name="Style card"/>
          <p:cNvSpPr/>
          <p:nvPr/>
        </p:nvSpPr>
        <p:spPr>
          <a:xfrm>
            <a:off x="5669280" y="1280160"/>
            <a:ext cx="3017520" cy="3063240"/>
          </a:xfrm>
          <a:prstGeom prst="roundRect">
            <a:avLst>
              <a:gd name="adj" fmla="val 3636"/>
            </a:avLst>
          </a:prstGeom>
          <a:solidFill>
            <a:schemeClr val="bg2"/>
          </a:solidFill>
          <a:ln w="12700">
            <a:solidFill>
              <a:schemeClr val="accent4"/>
            </a:solidFill>
            <a:prstDash val="solid"/>
          </a:ln>
        </p:spPr>
      </p:sp>
      <p:sp>
        <p:nvSpPr>
          <p:cNvPr id="17" name="Body Aa"/>
          <p:cNvSpPr txBox="1"/>
          <p:nvPr/>
        </p:nvSpPr>
        <p:spPr>
          <a:xfrm>
            <a:off x="5897880" y="1371600"/>
            <a:ext cx="1371600" cy="73152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Aa</a:t>
            </a:r>
            <a:endParaRPr lang="en-US" sz="4400" dirty="0"/>
          </a:p>
        </p:txBody>
      </p:sp>
      <p:sp>
        <p:nvSpPr>
          <p:cNvPr id="18" name="Body Fraunces (headings) "/>
          <p:cNvSpPr txBox="1"/>
          <p:nvPr/>
        </p:nvSpPr>
        <p:spPr>
          <a:xfrm>
            <a:off x="7086600" y="1417320"/>
            <a:ext cx="1554480" cy="640080"/>
          </a:xfrm>
          <a:prstGeom prst="rect">
            <a:avLst/>
          </a:prstGeom>
          <a:noFill/>
          <a:ln/>
        </p:spPr>
        <p:txBody>
          <a:bodyPr wrap="square" lIns="0" tIns="0" rIns="0" bIns="0" rtlCol="0" anchor="ctr"/>
          <a:lstStyle/>
          <a:p>
            <a:pPr indent="0" marL="0">
              <a:buNone/>
            </a:pPr>
            <a:r>
              <a:rPr lang="en-US" sz="1200" dirty="0">
                <a:solidFill>
                  <a:schemeClr val="tx2"/>
                </a:solidFill>
              </a:rPr>
              <a:t>Fraunces (headings)</a:t>
            </a:r>
            <a:endParaRPr lang="en-US" sz="1200" dirty="0"/>
          </a:p>
          <a:p>
            <a:pPr indent="0" marL="0">
              <a:buNone/>
            </a:pPr>
            <a:r>
              <a:rPr lang="en-US" sz="1200" dirty="0">
                <a:solidFill>
                  <a:schemeClr val="tx2"/>
                </a:solidFill>
              </a:rPr>
              <a:t>Nunito Sans (body)</a:t>
            </a:r>
            <a:endParaRPr lang="en-US" sz="1200" dirty="0"/>
          </a:p>
        </p:txBody>
      </p:sp>
      <p:sp>
        <p:nvSpPr>
          <p:cNvPr id="19" name="Bullets"/>
          <p:cNvSpPr txBox="1"/>
          <p:nvPr/>
        </p:nvSpPr>
        <p:spPr>
          <a:xfrm>
            <a:off x="5897880" y="2286000"/>
            <a:ext cx="260604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Deep-sea dark background</a:t>
            </a:r>
            <a:endParaRPr lang="en-US" sz="1400" dirty="0"/>
          </a:p>
          <a:p>
            <a:pPr marL="342900" indent="-342900">
              <a:spcAft>
                <a:spcPts val="600"/>
              </a:spcAft>
              <a:buSzPct val="100000"/>
              <a:buChar char="•"/>
            </a:pPr>
            <a:r>
              <a:rPr lang="en-US" sz="1400" dirty="0">
                <a:solidFill>
                  <a:schemeClr val="tx1"/>
                </a:solidFill>
              </a:rPr>
              <a:t>Orange for buttons and highlights</a:t>
            </a:r>
            <a:endParaRPr lang="en-US" sz="1400" dirty="0"/>
          </a:p>
          <a:p>
            <a:pPr marL="342900" indent="-342900">
              <a:spcAft>
                <a:spcPts val="600"/>
              </a:spcAft>
              <a:buSzPct val="100000"/>
              <a:buChar char="•"/>
            </a:pPr>
            <a:r>
              <a:rPr lang="en-US" sz="1400" dirty="0">
                <a:solidFill>
                  <a:schemeClr val="tx1"/>
                </a:solidFill>
              </a:rPr>
              <a:t>Rounded cards and a wave shape</a:t>
            </a:r>
            <a:endParaRPr lang="en-US" sz="1400" dirty="0"/>
          </a:p>
          <a:p>
            <a:pPr marL="342900" indent="-342900">
              <a:spcAft>
                <a:spcPts val="600"/>
              </a:spcAft>
              <a:buSzPct val="100000"/>
              <a:buChar char="•"/>
            </a:pPr>
            <a:r>
              <a:rPr lang="en-US" sz="1400" dirty="0">
                <a:solidFill>
                  <a:schemeClr val="tx1"/>
                </a:solidFill>
              </a:rPr>
              <a:t>Logo: teal circle, white N, orange wave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childTnLst>
                          </p:cTn>
                        </p:par>
                        <p:par>
                          <p:cTn id="15" fill="hold">
                            <p:stCondLst>
                              <p:cond delay="104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childTnLst>
                          </p:cTn>
                        </p:par>
                        <p:par>
                          <p:cTn id="22" fill="hold">
                            <p:stCondLst>
                              <p:cond delay="156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childTnLst>
                          </p:cTn>
                        </p:par>
                        <p:par>
                          <p:cTn id="29" fill="hold">
                            <p:stCondLst>
                              <p:cond delay="208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childTnLst>
                                </p:cTn>
                              </p:par>
                            </p:childTnLst>
                          </p:cTn>
                        </p:par>
                        <p:par>
                          <p:cTn id="36" fill="hold">
                            <p:stCondLst>
                              <p:cond delay="26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50"/>
                                        <p:tgtEl>
                                          <p:spTgt spid="13"/>
                                        </p:tgtEl>
                                      </p:cBhvr>
                                    </p:animEffect>
                                  </p:childTnLst>
                                </p:cTn>
                              </p:par>
                            </p:childTnLst>
                          </p:cTn>
                        </p:par>
                        <p:par>
                          <p:cTn id="43" fill="hold">
                            <p:stCondLst>
                              <p:cond delay="312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5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childTnLst>
                                </p:cTn>
                              </p:par>
                            </p:childTnLst>
                          </p:cTn>
                        </p:par>
                        <p:par>
                          <p:cTn id="50" fill="hold">
                            <p:stCondLst>
                              <p:cond delay="3640"/>
                            </p:stCondLst>
                            <p:childTnLst>
                              <p:par>
                                <p:cTn id="51" presetID="10" presetClass="entr" presetSubtype="0"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45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45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How we built it</a:t>
            </a:r>
            <a:endParaRPr lang="en-US" sz="3600" dirty="0"/>
          </a:p>
        </p:txBody>
      </p:sp>
      <p:sp>
        <p:nvSpPr>
          <p:cNvPr id="4" name="Step card 1"/>
          <p:cNvSpPr/>
          <p:nvPr/>
        </p:nvSpPr>
        <p:spPr>
          <a:xfrm>
            <a:off x="457200" y="1280160"/>
            <a:ext cx="2651760" cy="1600200"/>
          </a:xfrm>
          <a:prstGeom prst="roundRect">
            <a:avLst>
              <a:gd name="adj" fmla="val 6857"/>
            </a:avLst>
          </a:prstGeom>
          <a:solidFill>
            <a:schemeClr val="bg2"/>
          </a:solidFill>
          <a:ln w="12700">
            <a:solidFill>
              <a:schemeClr val="accent4"/>
            </a:solidFill>
            <a:prstDash val="solid"/>
          </a:ln>
        </p:spPr>
      </p:sp>
      <p:sp>
        <p:nvSpPr>
          <p:cNvPr id="5" name="Step 1"/>
          <p:cNvSpPr/>
          <p:nvPr/>
        </p:nvSpPr>
        <p:spPr>
          <a:xfrm>
            <a:off x="640080" y="146304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rgbClr val="3D1F00"/>
                </a:solidFill>
              </a:rPr>
              <a:t>1</a:t>
            </a:r>
            <a:endParaRPr lang="en-US" sz="1600" dirty="0"/>
          </a:p>
        </p:txBody>
      </p:sp>
      <p:sp>
        <p:nvSpPr>
          <p:cNvPr id="6" name="Heading Plan"/>
          <p:cNvSpPr txBox="1"/>
          <p:nvPr/>
        </p:nvSpPr>
        <p:spPr>
          <a:xfrm>
            <a:off x="1234440" y="146304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Plan</a:t>
            </a:r>
            <a:endParaRPr lang="en-US" sz="1600" dirty="0"/>
          </a:p>
        </p:txBody>
      </p:sp>
      <p:sp>
        <p:nvSpPr>
          <p:cNvPr id="7" name="Body Decide the idea, the"/>
          <p:cNvSpPr txBox="1"/>
          <p:nvPr/>
        </p:nvSpPr>
        <p:spPr>
          <a:xfrm>
            <a:off x="640080" y="2057400"/>
            <a:ext cx="2286000" cy="777240"/>
          </a:xfrm>
          <a:prstGeom prst="rect">
            <a:avLst/>
          </a:prstGeom>
          <a:noFill/>
          <a:ln/>
        </p:spPr>
        <p:txBody>
          <a:bodyPr wrap="square" lIns="0" tIns="0" rIns="0" bIns="0" rtlCol="0" anchor="t"/>
          <a:lstStyle/>
          <a:p>
            <a:pPr indent="0" marL="0">
              <a:buNone/>
            </a:pPr>
            <a:r>
              <a:rPr lang="en-US" sz="1400" dirty="0">
                <a:solidFill>
                  <a:schemeClr val="tx1"/>
                </a:solidFill>
              </a:rPr>
              <a:t>Decide the idea, the pages and who does what.</a:t>
            </a:r>
            <a:endParaRPr lang="en-US" sz="1400" dirty="0"/>
          </a:p>
        </p:txBody>
      </p:sp>
      <p:sp>
        <p:nvSpPr>
          <p:cNvPr id="8" name="Step card 2"/>
          <p:cNvSpPr/>
          <p:nvPr/>
        </p:nvSpPr>
        <p:spPr>
          <a:xfrm>
            <a:off x="3246120" y="1280160"/>
            <a:ext cx="2651760" cy="1600200"/>
          </a:xfrm>
          <a:prstGeom prst="roundRect">
            <a:avLst>
              <a:gd name="adj" fmla="val 6857"/>
            </a:avLst>
          </a:prstGeom>
          <a:solidFill>
            <a:schemeClr val="bg2"/>
          </a:solidFill>
          <a:ln w="12700">
            <a:solidFill>
              <a:schemeClr val="accent4"/>
            </a:solidFill>
            <a:prstDash val="solid"/>
          </a:ln>
        </p:spPr>
      </p:sp>
      <p:sp>
        <p:nvSpPr>
          <p:cNvPr id="9" name="Step 2"/>
          <p:cNvSpPr/>
          <p:nvPr/>
        </p:nvSpPr>
        <p:spPr>
          <a:xfrm>
            <a:off x="3429000" y="146304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rgbClr val="3D1F00"/>
                </a:solidFill>
              </a:rPr>
              <a:t>2</a:t>
            </a:r>
            <a:endParaRPr lang="en-US" sz="1600" dirty="0"/>
          </a:p>
        </p:txBody>
      </p:sp>
      <p:sp>
        <p:nvSpPr>
          <p:cNvPr id="10" name="Heading Choose the look"/>
          <p:cNvSpPr txBox="1"/>
          <p:nvPr/>
        </p:nvSpPr>
        <p:spPr>
          <a:xfrm>
            <a:off x="4023360" y="146304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Choose the look</a:t>
            </a:r>
            <a:endParaRPr lang="en-US" sz="1600" dirty="0"/>
          </a:p>
        </p:txBody>
      </p:sp>
      <p:sp>
        <p:nvSpPr>
          <p:cNvPr id="11" name="Body Pick deep-sea teal a"/>
          <p:cNvSpPr txBox="1"/>
          <p:nvPr/>
        </p:nvSpPr>
        <p:spPr>
          <a:xfrm>
            <a:off x="3429000" y="2057400"/>
            <a:ext cx="2286000" cy="777240"/>
          </a:xfrm>
          <a:prstGeom prst="rect">
            <a:avLst/>
          </a:prstGeom>
          <a:noFill/>
          <a:ln/>
        </p:spPr>
        <p:txBody>
          <a:bodyPr wrap="square" lIns="0" tIns="0" rIns="0" bIns="0" rtlCol="0" anchor="t"/>
          <a:lstStyle/>
          <a:p>
            <a:pPr indent="0" marL="0">
              <a:buNone/>
            </a:pPr>
            <a:r>
              <a:rPr lang="en-US" sz="1400" dirty="0">
                <a:solidFill>
                  <a:schemeClr val="tx1"/>
                </a:solidFill>
              </a:rPr>
              <a:t>Pick deep-sea teal and orange colors, fonts and the logo.</a:t>
            </a:r>
            <a:endParaRPr lang="en-US" sz="1400" dirty="0"/>
          </a:p>
        </p:txBody>
      </p:sp>
      <p:sp>
        <p:nvSpPr>
          <p:cNvPr id="12" name="Step card 3"/>
          <p:cNvSpPr/>
          <p:nvPr/>
        </p:nvSpPr>
        <p:spPr>
          <a:xfrm>
            <a:off x="6035040" y="1280160"/>
            <a:ext cx="2651760" cy="1600200"/>
          </a:xfrm>
          <a:prstGeom prst="roundRect">
            <a:avLst>
              <a:gd name="adj" fmla="val 6857"/>
            </a:avLst>
          </a:prstGeom>
          <a:solidFill>
            <a:schemeClr val="bg2"/>
          </a:solidFill>
          <a:ln w="12700">
            <a:solidFill>
              <a:schemeClr val="accent4"/>
            </a:solidFill>
            <a:prstDash val="solid"/>
          </a:ln>
        </p:spPr>
      </p:sp>
      <p:sp>
        <p:nvSpPr>
          <p:cNvPr id="13" name="Step 3"/>
          <p:cNvSpPr/>
          <p:nvPr/>
        </p:nvSpPr>
        <p:spPr>
          <a:xfrm>
            <a:off x="6217920" y="146304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rgbClr val="3D1F00"/>
                </a:solidFill>
              </a:rPr>
              <a:t>3</a:t>
            </a:r>
            <a:endParaRPr lang="en-US" sz="1600" dirty="0"/>
          </a:p>
        </p:txBody>
      </p:sp>
      <p:sp>
        <p:nvSpPr>
          <p:cNvPr id="14" name="Heading Write the HTML"/>
          <p:cNvSpPr txBox="1"/>
          <p:nvPr/>
        </p:nvSpPr>
        <p:spPr>
          <a:xfrm>
            <a:off x="6812280" y="146304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Write the HTML</a:t>
            </a:r>
            <a:endParaRPr lang="en-US" sz="1600" dirty="0"/>
          </a:p>
        </p:txBody>
      </p:sp>
      <p:sp>
        <p:nvSpPr>
          <p:cNvPr id="15" name="Body One file: nav, seven"/>
          <p:cNvSpPr txBox="1"/>
          <p:nvPr/>
        </p:nvSpPr>
        <p:spPr>
          <a:xfrm>
            <a:off x="6217920" y="2057400"/>
            <a:ext cx="2286000" cy="777240"/>
          </a:xfrm>
          <a:prstGeom prst="rect">
            <a:avLst/>
          </a:prstGeom>
          <a:noFill/>
          <a:ln/>
        </p:spPr>
        <p:txBody>
          <a:bodyPr wrap="square" lIns="0" tIns="0" rIns="0" bIns="0" rtlCol="0" anchor="t"/>
          <a:lstStyle/>
          <a:p>
            <a:pPr indent="0" marL="0">
              <a:buNone/>
            </a:pPr>
            <a:r>
              <a:rPr lang="en-US" sz="1400" dirty="0">
                <a:solidFill>
                  <a:schemeClr val="tx1"/>
                </a:solidFill>
              </a:rPr>
              <a:t>One file: nav, seven page sections and a footer.</a:t>
            </a:r>
            <a:endParaRPr lang="en-US" sz="1400" dirty="0"/>
          </a:p>
        </p:txBody>
      </p:sp>
      <p:sp>
        <p:nvSpPr>
          <p:cNvPr id="16" name="Step card 4"/>
          <p:cNvSpPr/>
          <p:nvPr/>
        </p:nvSpPr>
        <p:spPr>
          <a:xfrm>
            <a:off x="457200" y="3017520"/>
            <a:ext cx="2651760" cy="1600200"/>
          </a:xfrm>
          <a:prstGeom prst="roundRect">
            <a:avLst>
              <a:gd name="adj" fmla="val 6857"/>
            </a:avLst>
          </a:prstGeom>
          <a:solidFill>
            <a:schemeClr val="bg2"/>
          </a:solidFill>
          <a:ln w="12700">
            <a:solidFill>
              <a:schemeClr val="accent4"/>
            </a:solidFill>
            <a:prstDash val="solid"/>
          </a:ln>
        </p:spPr>
      </p:sp>
      <p:sp>
        <p:nvSpPr>
          <p:cNvPr id="17" name="Step 4"/>
          <p:cNvSpPr/>
          <p:nvPr/>
        </p:nvSpPr>
        <p:spPr>
          <a:xfrm>
            <a:off x="640080" y="320040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rgbClr val="3D1F00"/>
                </a:solidFill>
              </a:rPr>
              <a:t>4</a:t>
            </a:r>
            <a:endParaRPr lang="en-US" sz="1600" dirty="0"/>
          </a:p>
        </p:txBody>
      </p:sp>
      <p:sp>
        <p:nvSpPr>
          <p:cNvPr id="18" name="Heading Style with CSS"/>
          <p:cNvSpPr txBox="1"/>
          <p:nvPr/>
        </p:nvSpPr>
        <p:spPr>
          <a:xfrm>
            <a:off x="1234440" y="320040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Style with CSS</a:t>
            </a:r>
            <a:endParaRPr lang="en-US" sz="1600" dirty="0"/>
          </a:p>
        </p:txBody>
      </p:sp>
      <p:sp>
        <p:nvSpPr>
          <p:cNvPr id="19" name="Body Colors as variables,"/>
          <p:cNvSpPr txBox="1"/>
          <p:nvPr/>
        </p:nvSpPr>
        <p:spPr>
          <a:xfrm>
            <a:off x="640080" y="3794760"/>
            <a:ext cx="2286000" cy="777240"/>
          </a:xfrm>
          <a:prstGeom prst="rect">
            <a:avLst/>
          </a:prstGeom>
          <a:noFill/>
          <a:ln/>
        </p:spPr>
        <p:txBody>
          <a:bodyPr wrap="square" lIns="0" tIns="0" rIns="0" bIns="0" rtlCol="0" anchor="t"/>
          <a:lstStyle/>
          <a:p>
            <a:pPr indent="0" marL="0">
              <a:buNone/>
            </a:pPr>
            <a:r>
              <a:rPr lang="en-US" sz="1400" dirty="0">
                <a:solidFill>
                  <a:schemeClr val="tx1"/>
                </a:solidFill>
              </a:rPr>
              <a:t>Colors as variables, grid layouts and phone-friendly rules.</a:t>
            </a:r>
            <a:endParaRPr lang="en-US" sz="1400" dirty="0"/>
          </a:p>
        </p:txBody>
      </p:sp>
      <p:sp>
        <p:nvSpPr>
          <p:cNvPr id="20" name="Step card 5"/>
          <p:cNvSpPr/>
          <p:nvPr/>
        </p:nvSpPr>
        <p:spPr>
          <a:xfrm>
            <a:off x="3246120" y="3017520"/>
            <a:ext cx="2651760" cy="1600200"/>
          </a:xfrm>
          <a:prstGeom prst="roundRect">
            <a:avLst>
              <a:gd name="adj" fmla="val 6857"/>
            </a:avLst>
          </a:prstGeom>
          <a:solidFill>
            <a:schemeClr val="bg2"/>
          </a:solidFill>
          <a:ln w="12700">
            <a:solidFill>
              <a:schemeClr val="accent4"/>
            </a:solidFill>
            <a:prstDash val="solid"/>
          </a:ln>
        </p:spPr>
      </p:sp>
      <p:sp>
        <p:nvSpPr>
          <p:cNvPr id="21" name="Step 5"/>
          <p:cNvSpPr/>
          <p:nvPr/>
        </p:nvSpPr>
        <p:spPr>
          <a:xfrm>
            <a:off x="3429000" y="320040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rgbClr val="3D1F00"/>
                </a:solidFill>
              </a:rPr>
              <a:t>5</a:t>
            </a:r>
            <a:endParaRPr lang="en-US" sz="1600" dirty="0"/>
          </a:p>
        </p:txBody>
      </p:sp>
      <p:sp>
        <p:nvSpPr>
          <p:cNvPr id="22" name="Heading Add JavaScript"/>
          <p:cNvSpPr txBox="1"/>
          <p:nvPr/>
        </p:nvSpPr>
        <p:spPr>
          <a:xfrm>
            <a:off x="4023360" y="320040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Add JavaScript</a:t>
            </a:r>
            <a:endParaRPr lang="en-US" sz="1600" dirty="0"/>
          </a:p>
        </p:txBody>
      </p:sp>
      <p:sp>
        <p:nvSpPr>
          <p:cNvPr id="23" name="Body Page switching, gall"/>
          <p:cNvSpPr txBox="1"/>
          <p:nvPr/>
        </p:nvSpPr>
        <p:spPr>
          <a:xfrm>
            <a:off x="3429000" y="3794760"/>
            <a:ext cx="2286000" cy="777240"/>
          </a:xfrm>
          <a:prstGeom prst="rect">
            <a:avLst/>
          </a:prstGeom>
          <a:noFill/>
          <a:ln/>
        </p:spPr>
        <p:txBody>
          <a:bodyPr wrap="square" lIns="0" tIns="0" rIns="0" bIns="0" rtlCol="0" anchor="t"/>
          <a:lstStyle/>
          <a:p>
            <a:pPr indent="0" marL="0">
              <a:buNone/>
            </a:pPr>
            <a:r>
              <a:rPr lang="en-US" sz="1400" dirty="0">
                <a:solidFill>
                  <a:schemeClr val="tx1"/>
                </a:solidFill>
              </a:rPr>
              <a:t>Page switching, gallery filter, tables and booking form.</a:t>
            </a:r>
            <a:endParaRPr lang="en-US" sz="1400" dirty="0"/>
          </a:p>
        </p:txBody>
      </p:sp>
      <p:sp>
        <p:nvSpPr>
          <p:cNvPr id="24" name="Step card 6"/>
          <p:cNvSpPr/>
          <p:nvPr/>
        </p:nvSpPr>
        <p:spPr>
          <a:xfrm>
            <a:off x="6035040" y="3017520"/>
            <a:ext cx="2651760" cy="1600200"/>
          </a:xfrm>
          <a:prstGeom prst="roundRect">
            <a:avLst>
              <a:gd name="adj" fmla="val 6857"/>
            </a:avLst>
          </a:prstGeom>
          <a:solidFill>
            <a:schemeClr val="bg2"/>
          </a:solidFill>
          <a:ln w="12700">
            <a:solidFill>
              <a:schemeClr val="accent4"/>
            </a:solidFill>
            <a:prstDash val="solid"/>
          </a:ln>
        </p:spPr>
      </p:sp>
      <p:sp>
        <p:nvSpPr>
          <p:cNvPr id="25" name="Step 6"/>
          <p:cNvSpPr/>
          <p:nvPr/>
        </p:nvSpPr>
        <p:spPr>
          <a:xfrm>
            <a:off x="6217920" y="320040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rgbClr val="3D1F00"/>
                </a:solidFill>
              </a:rPr>
              <a:t>6</a:t>
            </a:r>
            <a:endParaRPr lang="en-US" sz="1600" dirty="0"/>
          </a:p>
        </p:txBody>
      </p:sp>
      <p:sp>
        <p:nvSpPr>
          <p:cNvPr id="26" name="Heading Polish and test"/>
          <p:cNvSpPr txBox="1"/>
          <p:nvPr/>
        </p:nvSpPr>
        <p:spPr>
          <a:xfrm>
            <a:off x="6812280" y="3200400"/>
            <a:ext cx="1783080" cy="457200"/>
          </a:xfrm>
          <a:prstGeom prst="rect">
            <a:avLst/>
          </a:prstGeom>
          <a:noFill/>
          <a:ln/>
        </p:spPr>
        <p:txBody>
          <a:bodyPr wrap="square" lIns="0" tIns="0" rIns="0" bIns="0" rtlCol="0" anchor="ctr"/>
          <a:lstStyle/>
          <a:p>
            <a:pPr indent="0" marL="0">
              <a:buNone/>
            </a:pPr>
            <a:r>
              <a:rPr lang="en-US" sz="1600" b="1" dirty="0">
                <a:solidFill>
                  <a:schemeClr val="accent3"/>
                </a:solidFill>
              </a:rPr>
              <a:t>Polish and test</a:t>
            </a:r>
            <a:endParaRPr lang="en-US" sz="1600" dirty="0"/>
          </a:p>
        </p:txBody>
      </p:sp>
      <p:sp>
        <p:nvSpPr>
          <p:cNvPr id="27" name="Body Add video and 3D fis"/>
          <p:cNvSpPr txBox="1"/>
          <p:nvPr/>
        </p:nvSpPr>
        <p:spPr>
          <a:xfrm>
            <a:off x="6217920" y="3794760"/>
            <a:ext cx="2286000" cy="777240"/>
          </a:xfrm>
          <a:prstGeom prst="rect">
            <a:avLst/>
          </a:prstGeom>
          <a:noFill/>
          <a:ln/>
        </p:spPr>
        <p:txBody>
          <a:bodyPr wrap="square" lIns="0" tIns="0" rIns="0" bIns="0" rtlCol="0" anchor="t"/>
          <a:lstStyle/>
          <a:p>
            <a:pPr indent="0" marL="0">
              <a:buNone/>
            </a:pPr>
            <a:r>
              <a:rPr lang="en-US" sz="1400" dirty="0">
                <a:solidFill>
                  <a:schemeClr val="tx1"/>
                </a:solidFill>
              </a:rPr>
              <a:t>Add video and 3D fish, fix bugs, test on phone and laptop.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6</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childTnLst>
                          </p:cTn>
                        </p:par>
                        <p:par>
                          <p:cTn id="21" fill="hold">
                            <p:stCondLst>
                              <p:cond delay="104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childTnLst>
                          </p:cTn>
                        </p:par>
                        <p:par>
                          <p:cTn id="34" fill="hold">
                            <p:stCondLst>
                              <p:cond delay="1560"/>
                            </p:stCondLst>
                            <p:childTnLst>
                              <p:par>
                                <p:cTn id="35" presetID="10" presetClass="entr" presetSubtype="0"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childTnLst>
                          </p:cTn>
                        </p:par>
                        <p:par>
                          <p:cTn id="47" fill="hold">
                            <p:stCondLst>
                              <p:cond delay="2080"/>
                            </p:stCondLst>
                            <p:childTnLst>
                              <p:par>
                                <p:cTn id="48" presetID="10" presetClass="entr" presetSubtype="0"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5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5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5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childTnLst>
                          </p:cTn>
                        </p:par>
                        <p:par>
                          <p:cTn id="60" fill="hold">
                            <p:stCondLst>
                              <p:cond delay="2600"/>
                            </p:stCondLst>
                            <p:childTnLst>
                              <p:par>
                                <p:cTn id="61" presetID="10" presetClass="entr" presetSubtype="0" fill="hold" grpId="0"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45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45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45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450"/>
                                        <p:tgtEl>
                                          <p:spTgt spid="23"/>
                                        </p:tgtEl>
                                      </p:cBhvr>
                                    </p:animEffect>
                                  </p:childTnLst>
                                </p:cTn>
                              </p:par>
                            </p:childTnLst>
                          </p:cTn>
                        </p:par>
                        <p:par>
                          <p:cTn id="73" fill="hold">
                            <p:stCondLst>
                              <p:cond delay="3120"/>
                            </p:stCondLst>
                            <p:childTnLst>
                              <p:par>
                                <p:cTn id="74" presetID="10" presetClass="entr" presetSubtype="0" fill="hold" grpId="0" nodeType="after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45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450"/>
                                        <p:tgtEl>
                                          <p:spTgt spid="2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5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Works on every screen</a:t>
            </a:r>
            <a:endParaRPr lang="en-US" sz="3600" dirty="0"/>
          </a:p>
        </p:txBody>
      </p:sp>
      <p:sp>
        <p:nvSpPr>
          <p:cNvPr id="4" name="Card Responsive design"/>
          <p:cNvSpPr/>
          <p:nvPr/>
        </p:nvSpPr>
        <p:spPr>
          <a:xfrm>
            <a:off x="457200" y="1280160"/>
            <a:ext cx="4023360" cy="3200400"/>
          </a:xfrm>
          <a:prstGeom prst="roundRect">
            <a:avLst>
              <a:gd name="adj" fmla="val 3429"/>
            </a:avLst>
          </a:prstGeom>
          <a:solidFill>
            <a:schemeClr val="bg2"/>
          </a:solidFill>
          <a:ln w="12700">
            <a:solidFill>
              <a:schemeClr val="accent4"/>
            </a:solidFill>
            <a:prstDash val="solid"/>
          </a:ln>
        </p:spPr>
      </p:sp>
      <p:sp>
        <p:nvSpPr>
          <p:cNvPr id="5" name="Responsive design circle"/>
          <p:cNvSpPr/>
          <p:nvPr/>
        </p:nvSpPr>
        <p:spPr>
          <a:xfrm>
            <a:off x="685800" y="1463040"/>
            <a:ext cx="548640" cy="548640"/>
          </a:xfrm>
          <a:prstGeom prst="ellipse">
            <a:avLst/>
          </a:prstGeom>
          <a:solidFill>
            <a:schemeClr val="accent1"/>
          </a:solidFill>
          <a:ln w="12700">
            <a:solidFill>
              <a:schemeClr val="accent1"/>
            </a:solidFill>
            <a:prstDash val="solid"/>
          </a:ln>
        </p:spPr>
      </p:sp>
      <p:pic>
        <p:nvPicPr>
          <p:cNvPr id="6" name="Responsive design icon" descr="Responsive design">    </p:cNvPr>
          <p:cNvPicPr>
            <a:picLocks noChangeAspect="1"/>
          </p:cNvPicPr>
          <p:nvPr/>
        </p:nvPicPr>
        <p:blipFill>
          <a:blip r:embed="rId1"/>
          <a:stretch>
            <a:fillRect/>
          </a:stretch>
        </p:blipFill>
        <p:spPr>
          <a:xfrm>
            <a:off x="822960" y="1600200"/>
            <a:ext cx="274320" cy="274320"/>
          </a:xfrm>
          <a:prstGeom prst="rect">
            <a:avLst/>
          </a:prstGeom>
        </p:spPr>
      </p:pic>
      <p:sp>
        <p:nvSpPr>
          <p:cNvPr id="7" name="Heading Responsive design"/>
          <p:cNvSpPr txBox="1"/>
          <p:nvPr/>
        </p:nvSpPr>
        <p:spPr>
          <a:xfrm>
            <a:off x="1417320" y="1463040"/>
            <a:ext cx="2926080" cy="548640"/>
          </a:xfrm>
          <a:prstGeom prst="rect">
            <a:avLst/>
          </a:prstGeom>
          <a:noFill/>
          <a:ln/>
        </p:spPr>
        <p:txBody>
          <a:bodyPr wrap="square" lIns="0" tIns="0" rIns="0" bIns="0" rtlCol="0" anchor="ctr"/>
          <a:lstStyle/>
          <a:p>
            <a:pPr indent="0" marL="0">
              <a:buNone/>
            </a:pPr>
            <a:r>
              <a:rPr lang="en-US" sz="1600" b="1" dirty="0">
                <a:solidFill>
                  <a:schemeClr val="accent3"/>
                </a:solidFill>
              </a:rPr>
              <a:t>Responsive design</a:t>
            </a:r>
            <a:endParaRPr lang="en-US" sz="1600" dirty="0"/>
          </a:p>
        </p:txBody>
      </p:sp>
      <p:sp>
        <p:nvSpPr>
          <p:cNvPr id="8" name="Bullets"/>
          <p:cNvSpPr txBox="1"/>
          <p:nvPr/>
        </p:nvSpPr>
        <p:spPr>
          <a:xfrm>
            <a:off x="731520" y="2240280"/>
            <a:ext cx="34747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Menu button replaces the nav bar below 860px</a:t>
            </a:r>
            <a:endParaRPr lang="en-US" sz="1400" dirty="0"/>
          </a:p>
          <a:p>
            <a:pPr marL="342900" indent="-342900">
              <a:spcAft>
                <a:spcPts val="600"/>
              </a:spcAft>
              <a:buSzPct val="100000"/>
              <a:buChar char="•"/>
            </a:pPr>
            <a:r>
              <a:rPr lang="en-US" sz="1400" dirty="0">
                <a:solidFill>
                  <a:schemeClr val="tx1"/>
                </a:solidFill>
              </a:rPr>
              <a:t>Grid columns drop from 4 to 2 to 1</a:t>
            </a:r>
            <a:endParaRPr lang="en-US" sz="1400" dirty="0"/>
          </a:p>
          <a:p>
            <a:pPr marL="342900" indent="-342900">
              <a:spcAft>
                <a:spcPts val="600"/>
              </a:spcAft>
              <a:buSzPct val="100000"/>
              <a:buChar char="•"/>
            </a:pPr>
            <a:r>
              <a:rPr lang="en-US" sz="1400" dirty="0">
                <a:solidFill>
                  <a:schemeClr val="tx1"/>
                </a:solidFill>
              </a:rPr>
              <a:t>Sticky top bar and safe-area spacing for phones</a:t>
            </a:r>
            <a:endParaRPr lang="en-US" sz="1400" dirty="0"/>
          </a:p>
          <a:p>
            <a:pPr marL="342900" indent="-342900">
              <a:spcAft>
                <a:spcPts val="600"/>
              </a:spcAft>
              <a:buSzPct val="100000"/>
              <a:buChar char="•"/>
            </a:pPr>
            <a:r>
              <a:rPr lang="en-US" sz="1400" dirty="0">
                <a:solidFill>
                  <a:schemeClr val="tx1"/>
                </a:solidFill>
              </a:rPr>
              <a:t>Images and video scale to any screen</a:t>
            </a:r>
            <a:endParaRPr lang="en-US" sz="1400" dirty="0"/>
          </a:p>
        </p:txBody>
      </p:sp>
      <p:sp>
        <p:nvSpPr>
          <p:cNvPr id="9" name="Card Accessibility"/>
          <p:cNvSpPr/>
          <p:nvPr/>
        </p:nvSpPr>
        <p:spPr>
          <a:xfrm>
            <a:off x="4663440" y="1280160"/>
            <a:ext cx="4023360" cy="3200400"/>
          </a:xfrm>
          <a:prstGeom prst="roundRect">
            <a:avLst>
              <a:gd name="adj" fmla="val 3429"/>
            </a:avLst>
          </a:prstGeom>
          <a:solidFill>
            <a:schemeClr val="bg2"/>
          </a:solidFill>
          <a:ln w="12700">
            <a:solidFill>
              <a:schemeClr val="accent4"/>
            </a:solidFill>
            <a:prstDash val="solid"/>
          </a:ln>
        </p:spPr>
      </p:sp>
      <p:sp>
        <p:nvSpPr>
          <p:cNvPr id="10" name="Accessibility circle"/>
          <p:cNvSpPr/>
          <p:nvPr/>
        </p:nvSpPr>
        <p:spPr>
          <a:xfrm>
            <a:off x="4892040" y="1463040"/>
            <a:ext cx="548640" cy="548640"/>
          </a:xfrm>
          <a:prstGeom prst="ellipse">
            <a:avLst/>
          </a:prstGeom>
          <a:solidFill>
            <a:schemeClr val="accent1"/>
          </a:solidFill>
          <a:ln w="12700">
            <a:solidFill>
              <a:schemeClr val="accent1"/>
            </a:solidFill>
            <a:prstDash val="solid"/>
          </a:ln>
        </p:spPr>
      </p:sp>
      <p:pic>
        <p:nvPicPr>
          <p:cNvPr id="11" name="Accessibility icon" descr="Accessibility">    </p:cNvPr>
          <p:cNvPicPr>
            <a:picLocks noChangeAspect="1"/>
          </p:cNvPicPr>
          <p:nvPr/>
        </p:nvPicPr>
        <p:blipFill>
          <a:blip r:embed="rId2"/>
          <a:stretch>
            <a:fillRect/>
          </a:stretch>
        </p:blipFill>
        <p:spPr>
          <a:xfrm>
            <a:off x="5029200" y="1600200"/>
            <a:ext cx="274320" cy="274320"/>
          </a:xfrm>
          <a:prstGeom prst="rect">
            <a:avLst/>
          </a:prstGeom>
        </p:spPr>
      </p:pic>
      <p:sp>
        <p:nvSpPr>
          <p:cNvPr id="12" name="Heading Accessibility"/>
          <p:cNvSpPr txBox="1"/>
          <p:nvPr/>
        </p:nvSpPr>
        <p:spPr>
          <a:xfrm>
            <a:off x="5623560" y="1463040"/>
            <a:ext cx="2926080" cy="548640"/>
          </a:xfrm>
          <a:prstGeom prst="rect">
            <a:avLst/>
          </a:prstGeom>
          <a:noFill/>
          <a:ln/>
        </p:spPr>
        <p:txBody>
          <a:bodyPr wrap="square" lIns="0" tIns="0" rIns="0" bIns="0" rtlCol="0" anchor="ctr"/>
          <a:lstStyle/>
          <a:p>
            <a:pPr indent="0" marL="0">
              <a:buNone/>
            </a:pPr>
            <a:r>
              <a:rPr lang="en-US" sz="1600" b="1" dirty="0">
                <a:solidFill>
                  <a:schemeClr val="accent3"/>
                </a:solidFill>
              </a:rPr>
              <a:t>Accessibility</a:t>
            </a:r>
            <a:endParaRPr lang="en-US" sz="1600" dirty="0"/>
          </a:p>
        </p:txBody>
      </p:sp>
      <p:sp>
        <p:nvSpPr>
          <p:cNvPr id="13" name="Bullets"/>
          <p:cNvSpPr txBox="1"/>
          <p:nvPr/>
        </p:nvSpPr>
        <p:spPr>
          <a:xfrm>
            <a:off x="4937760" y="2240280"/>
            <a:ext cx="34747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Alt text and labels on images and logo</a:t>
            </a:r>
            <a:endParaRPr lang="en-US" sz="1400" dirty="0"/>
          </a:p>
          <a:p>
            <a:pPr marL="342900" indent="-342900">
              <a:spcAft>
                <a:spcPts val="600"/>
              </a:spcAft>
              <a:buSzPct val="100000"/>
              <a:buChar char="•"/>
            </a:pPr>
            <a:r>
              <a:rPr lang="en-US" sz="1400" dirty="0">
                <a:solidFill>
                  <a:schemeClr val="tx1"/>
                </a:solidFill>
              </a:rPr>
              <a:t>Clear gold focus outline for keyboard users</a:t>
            </a:r>
            <a:endParaRPr lang="en-US" sz="1400" dirty="0"/>
          </a:p>
          <a:p>
            <a:pPr marL="342900" indent="-342900">
              <a:spcAft>
                <a:spcPts val="600"/>
              </a:spcAft>
              <a:buSzPct val="100000"/>
              <a:buChar char="•"/>
            </a:pPr>
            <a:r>
              <a:rPr lang="en-US" sz="1400" dirty="0">
                <a:solidFill>
                  <a:schemeClr val="tx1"/>
                </a:solidFill>
              </a:rPr>
              <a:t>Form errors shown in words, fields marked invalid</a:t>
            </a:r>
            <a:endParaRPr lang="en-US" sz="1400" dirty="0"/>
          </a:p>
          <a:p>
            <a:pPr marL="342900" indent="-342900">
              <a:spcAft>
                <a:spcPts val="600"/>
              </a:spcAft>
              <a:buSzPct val="100000"/>
              <a:buChar char="•"/>
            </a:pPr>
            <a:r>
              <a:rPr lang="en-US" sz="1400" dirty="0">
                <a:solidFill>
                  <a:schemeClr val="tx1"/>
                </a:solidFill>
              </a:rPr>
              <a:t>Animations switch off for reduced-motion users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7</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Home page</a:t>
            </a:r>
            <a:endParaRPr lang="en-US" sz="3600" dirty="0"/>
          </a:p>
        </p:txBody>
      </p:sp>
      <p:sp>
        <p:nvSpPr>
          <p:cNvPr id="4" name="Bullets"/>
          <p:cNvSpPr txBox="1"/>
          <p:nvPr/>
        </p:nvSpPr>
        <p:spPr>
          <a:xfrm>
            <a:off x="457200" y="1325880"/>
            <a:ext cx="402336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Full-screen looping video background with a dark overlay</a:t>
            </a:r>
            <a:endParaRPr lang="en-US" sz="1400" dirty="0"/>
          </a:p>
          <a:p>
            <a:pPr marL="342900" indent="-342900">
              <a:spcAft>
                <a:spcPts val="600"/>
              </a:spcAft>
              <a:buSzPct val="100000"/>
              <a:buChar char="•"/>
            </a:pPr>
            <a:r>
              <a:rPr lang="en-US" sz="1400" dirty="0">
                <a:solidFill>
                  <a:schemeClr val="tx1"/>
                </a:solidFill>
              </a:rPr>
              <a:t>Floating logo, title and two buttons</a:t>
            </a:r>
            <a:endParaRPr lang="en-US" sz="1400" dirty="0"/>
          </a:p>
          <a:p>
            <a:pPr marL="342900" indent="-342900">
              <a:spcAft>
                <a:spcPts val="600"/>
              </a:spcAft>
              <a:buSzPct val="100000"/>
              <a:buChar char="•"/>
            </a:pPr>
            <a:r>
              <a:rPr lang="en-US" sz="1400" dirty="0">
                <a:solidFill>
                  <a:schemeClr val="tx1"/>
                </a:solidFill>
              </a:rPr>
              <a:t>Wave shape blends the video into the page</a:t>
            </a:r>
            <a:endParaRPr lang="en-US" sz="1400" dirty="0"/>
          </a:p>
          <a:p>
            <a:pPr marL="342900" indent="-342900">
              <a:spcAft>
                <a:spcPts val="600"/>
              </a:spcAft>
              <a:buSzPct val="100000"/>
              <a:buChar char="•"/>
            </a:pPr>
            <a:r>
              <a:rPr lang="en-US" sz="1400" dirty="0">
                <a:solidFill>
                  <a:schemeClr val="tx1"/>
                </a:solidFill>
              </a:rPr>
              <a:t>Photo mosaic: Jellyfish, Sea Turtle, Coral Reef, Octopus</a:t>
            </a:r>
            <a:endParaRPr lang="en-US" sz="1400" dirty="0"/>
          </a:p>
          <a:p>
            <a:pPr marL="342900" indent="-342900">
              <a:spcAft>
                <a:spcPts val="600"/>
              </a:spcAft>
              <a:buSzPct val="100000"/>
              <a:buChar char="•"/>
            </a:pPr>
            <a:r>
              <a:rPr lang="en-US" sz="1400" dirty="0">
                <a:solidFill>
                  <a:schemeClr val="tx1"/>
                </a:solidFill>
              </a:rPr>
              <a:t>Info boxes: location, opening hours, newest finds</a:t>
            </a:r>
            <a:endParaRPr lang="en-US" sz="1400" dirty="0"/>
          </a:p>
        </p:txBody>
      </p:sp>
      <p:sp>
        <p:nvSpPr>
          <p:cNvPr id="5" name="Hero mockup"/>
          <p:cNvSpPr/>
          <p:nvPr/>
        </p:nvSpPr>
        <p:spPr>
          <a:xfrm>
            <a:off x="4754880" y="1280160"/>
            <a:ext cx="3931920" cy="3108960"/>
          </a:xfrm>
          <a:prstGeom prst="roundRect">
            <a:avLst>
              <a:gd name="adj" fmla="val 3529"/>
            </a:avLst>
          </a:prstGeom>
          <a:solidFill>
            <a:schemeClr val="accent5"/>
          </a:solidFill>
          <a:ln w="12700">
            <a:solidFill>
              <a:schemeClr val="accent4"/>
            </a:solidFill>
            <a:prstDash val="solid"/>
          </a:ln>
        </p:spPr>
      </p:sp>
      <p:pic>
        <p:nvPicPr>
          <p:cNvPr id="6" name="Mock logo" descr="Nexus Aquarium logo">    </p:cNvPr>
          <p:cNvPicPr>
            <a:picLocks noChangeAspect="1"/>
          </p:cNvPicPr>
          <p:nvPr/>
        </p:nvPicPr>
        <p:blipFill>
          <a:blip r:embed="rId1"/>
          <a:stretch>
            <a:fillRect/>
          </a:stretch>
        </p:blipFill>
        <p:spPr>
          <a:xfrm>
            <a:off x="6355080" y="1417320"/>
            <a:ext cx="731520" cy="731520"/>
          </a:xfrm>
          <a:prstGeom prst="rect">
            <a:avLst/>
          </a:prstGeom>
        </p:spPr>
      </p:pic>
      <p:sp>
        <p:nvSpPr>
          <p:cNvPr id="7" name="Body Nexus Aquarium"/>
          <p:cNvSpPr txBox="1"/>
          <p:nvPr/>
        </p:nvSpPr>
        <p:spPr>
          <a:xfrm>
            <a:off x="4754880" y="2194560"/>
            <a:ext cx="3931920" cy="411480"/>
          </a:xfrm>
          <a:prstGeom prst="rect">
            <a:avLst/>
          </a:prstGeom>
          <a:noFill/>
          <a:ln/>
        </p:spPr>
        <p:txBody>
          <a:bodyPr wrap="square" lIns="0" tIns="0" rIns="0" bIns="0" rtlCol="0" anchor="ctr"/>
          <a:lstStyle/>
          <a:p>
            <a:pPr algn="ctr" indent="0" marL="0">
              <a:buNone/>
            </a:pPr>
            <a:r>
              <a:rPr lang="en-US" sz="2400" b="1" dirty="0">
                <a:solidFill>
                  <a:schemeClr val="tx1"/>
                </a:solidFill>
              </a:rPr>
              <a:t>Nexus Aquarium</a:t>
            </a:r>
            <a:endParaRPr lang="en-US" sz="2400" dirty="0"/>
          </a:p>
        </p:txBody>
      </p:sp>
      <p:sp>
        <p:nvSpPr>
          <p:cNvPr id="8" name="Body Where the ocean&amp;apos;s ne"/>
          <p:cNvSpPr txBox="1"/>
          <p:nvPr/>
        </p:nvSpPr>
        <p:spPr>
          <a:xfrm>
            <a:off x="4754880" y="2606040"/>
            <a:ext cx="3931920" cy="274320"/>
          </a:xfrm>
          <a:prstGeom prst="rect">
            <a:avLst/>
          </a:prstGeom>
          <a:noFill/>
          <a:ln/>
        </p:spPr>
        <p:txBody>
          <a:bodyPr wrap="square" lIns="0" tIns="0" rIns="0" bIns="0" rtlCol="0" anchor="t"/>
          <a:lstStyle/>
          <a:p>
            <a:pPr algn="ctr" indent="0" marL="0">
              <a:buNone/>
            </a:pPr>
            <a:r>
              <a:rPr lang="en-US" sz="1100" dirty="0">
                <a:solidFill>
                  <a:schemeClr val="tx2"/>
                </a:solidFill>
              </a:rPr>
              <a:t>Where the ocean's newest creatures come to light.</a:t>
            </a:r>
            <a:endParaRPr lang="en-US" sz="1100" dirty="0"/>
          </a:p>
        </p:txBody>
      </p:sp>
      <p:sp>
        <p:nvSpPr>
          <p:cNvPr id="9" name="Mock button 1"/>
          <p:cNvSpPr/>
          <p:nvPr/>
        </p:nvSpPr>
        <p:spPr>
          <a:xfrm>
            <a:off x="5097780" y="3017520"/>
            <a:ext cx="155448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rgbClr val="3D1F00"/>
                </a:solidFill>
              </a:rPr>
              <a:t>Book tickets</a:t>
            </a:r>
            <a:endParaRPr lang="en-US" sz="1200" dirty="0"/>
          </a:p>
        </p:txBody>
      </p:sp>
      <p:sp>
        <p:nvSpPr>
          <p:cNvPr id="10" name="Mock button 2"/>
          <p:cNvSpPr/>
          <p:nvPr/>
        </p:nvSpPr>
        <p:spPr>
          <a:xfrm>
            <a:off x="6789420" y="3017520"/>
            <a:ext cx="1554480" cy="365760"/>
          </a:xfrm>
          <a:prstGeom prst="roundRect">
            <a:avLst>
              <a:gd name="adj" fmla="val 50000"/>
            </a:avLst>
          </a:prstGeom>
          <a:solidFill>
            <a:schemeClr val="accent5"/>
          </a:solidFill>
          <a:ln w="19050">
            <a:solidFill>
              <a:schemeClr val="accent6"/>
            </a:solidFill>
          </a:ln>
        </p:spPr>
        <p:txBody>
          <a:bodyPr wrap="square" lIns="0" tIns="0" rIns="0" bIns="0" rtlCol="0" anchor="ctr"/>
          <a:lstStyle/>
          <a:p>
            <a:pPr algn="ctr" indent="0" marL="0">
              <a:buNone/>
            </a:pPr>
            <a:r>
              <a:rPr lang="en-US" sz="1200" b="1" dirty="0">
                <a:solidFill>
                  <a:schemeClr val="tx1"/>
                </a:solidFill>
              </a:rPr>
              <a:t>Explore marine life</a:t>
            </a:r>
            <a:endParaRPr lang="en-US" sz="1200" dirty="0"/>
          </a:p>
        </p:txBody>
      </p:sp>
      <p:sp>
        <p:nvSpPr>
          <p:cNvPr id="11" name="Mock tile Jellyfish"/>
          <p:cNvSpPr/>
          <p:nvPr/>
        </p:nvSpPr>
        <p:spPr>
          <a:xfrm>
            <a:off x="4937760" y="3611880"/>
            <a:ext cx="822960" cy="594360"/>
          </a:xfrm>
          <a:prstGeom prst="roundRect">
            <a:avLst>
              <a:gd name="adj" fmla="val 12308"/>
            </a:avLst>
          </a:prstGeom>
          <a:solidFill>
            <a:schemeClr val="accent1"/>
          </a:solidFill>
          <a:ln/>
        </p:spPr>
        <p:txBody>
          <a:bodyPr wrap="square" lIns="0" tIns="0" rIns="0" bIns="0" rtlCol="0" anchor="ctr"/>
          <a:lstStyle/>
          <a:p>
            <a:pPr algn="ctr" indent="0" marL="0">
              <a:buNone/>
            </a:pPr>
            <a:r>
              <a:rPr lang="en-US" sz="1000" b="1" dirty="0">
                <a:solidFill>
                  <a:srgbClr val="FFFFFF"/>
                </a:solidFill>
              </a:rPr>
              <a:t>Jellyfish</a:t>
            </a:r>
            <a:endParaRPr lang="en-US" sz="1000" dirty="0"/>
          </a:p>
        </p:txBody>
      </p:sp>
      <p:sp>
        <p:nvSpPr>
          <p:cNvPr id="12" name="Mock tile Sea Turtle"/>
          <p:cNvSpPr/>
          <p:nvPr/>
        </p:nvSpPr>
        <p:spPr>
          <a:xfrm>
            <a:off x="5852160" y="3611880"/>
            <a:ext cx="822960" cy="594360"/>
          </a:xfrm>
          <a:prstGeom prst="roundRect">
            <a:avLst>
              <a:gd name="adj" fmla="val 12308"/>
            </a:avLst>
          </a:prstGeom>
          <a:solidFill>
            <a:schemeClr val="accent1"/>
          </a:solidFill>
          <a:ln/>
        </p:spPr>
        <p:txBody>
          <a:bodyPr wrap="square" lIns="0" tIns="0" rIns="0" bIns="0" rtlCol="0" anchor="ctr"/>
          <a:lstStyle/>
          <a:p>
            <a:pPr algn="ctr" indent="0" marL="0">
              <a:buNone/>
            </a:pPr>
            <a:r>
              <a:rPr lang="en-US" sz="1000" b="1" dirty="0">
                <a:solidFill>
                  <a:srgbClr val="FFFFFF"/>
                </a:solidFill>
              </a:rPr>
              <a:t>Sea Turtle</a:t>
            </a:r>
            <a:endParaRPr lang="en-US" sz="1000" dirty="0"/>
          </a:p>
        </p:txBody>
      </p:sp>
      <p:sp>
        <p:nvSpPr>
          <p:cNvPr id="13" name="Mock tile Coral Reef"/>
          <p:cNvSpPr/>
          <p:nvPr/>
        </p:nvSpPr>
        <p:spPr>
          <a:xfrm>
            <a:off x="6766560" y="3611880"/>
            <a:ext cx="822960" cy="594360"/>
          </a:xfrm>
          <a:prstGeom prst="roundRect">
            <a:avLst>
              <a:gd name="adj" fmla="val 12308"/>
            </a:avLst>
          </a:prstGeom>
          <a:solidFill>
            <a:schemeClr val="accent1"/>
          </a:solidFill>
          <a:ln/>
        </p:spPr>
        <p:txBody>
          <a:bodyPr wrap="square" lIns="0" tIns="0" rIns="0" bIns="0" rtlCol="0" anchor="ctr"/>
          <a:lstStyle/>
          <a:p>
            <a:pPr algn="ctr" indent="0" marL="0">
              <a:buNone/>
            </a:pPr>
            <a:r>
              <a:rPr lang="en-US" sz="1000" b="1" dirty="0">
                <a:solidFill>
                  <a:srgbClr val="FFFFFF"/>
                </a:solidFill>
              </a:rPr>
              <a:t>Coral Reef</a:t>
            </a:r>
            <a:endParaRPr lang="en-US" sz="1000" dirty="0"/>
          </a:p>
        </p:txBody>
      </p:sp>
      <p:sp>
        <p:nvSpPr>
          <p:cNvPr id="14" name="Mock tile Octopus"/>
          <p:cNvSpPr/>
          <p:nvPr/>
        </p:nvSpPr>
        <p:spPr>
          <a:xfrm>
            <a:off x="7680960" y="3611880"/>
            <a:ext cx="822960" cy="594360"/>
          </a:xfrm>
          <a:prstGeom prst="roundRect">
            <a:avLst>
              <a:gd name="adj" fmla="val 12308"/>
            </a:avLst>
          </a:prstGeom>
          <a:solidFill>
            <a:schemeClr val="accent1"/>
          </a:solidFill>
          <a:ln/>
        </p:spPr>
        <p:txBody>
          <a:bodyPr wrap="square" lIns="0" tIns="0" rIns="0" bIns="0" rtlCol="0" anchor="ctr"/>
          <a:lstStyle/>
          <a:p>
            <a:pPr algn="ctr" indent="0" marL="0">
              <a:buNone/>
            </a:pPr>
            <a:r>
              <a:rPr lang="en-US" sz="1000" b="1" dirty="0">
                <a:solidFill>
                  <a:srgbClr val="FFFFFF"/>
                </a:solidFill>
              </a:rPr>
              <a:t>Octopus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450"/>
                                        <p:tgtEl>
                                          <p:spTgt spid="4"/>
                                        </p:tgtEl>
                                      </p:cBhvr>
                                    </p:animEffect>
                                  </p:childTnLst>
                                </p:cTn>
                              </p:par>
                            </p:childTnLst>
                          </p:cTn>
                        </p:par>
                        <p:par>
                          <p:cTn id="12" fill="hold">
                            <p:stCondLst>
                              <p:cond delay="104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Gallery and Marine Life</a:t>
            </a:r>
            <a:endParaRPr lang="en-US" sz="3600" dirty="0"/>
          </a:p>
        </p:txBody>
      </p:sp>
      <p:sp>
        <p:nvSpPr>
          <p:cNvPr id="4" name="Gallery card"/>
          <p:cNvSpPr/>
          <p:nvPr/>
        </p:nvSpPr>
        <p:spPr>
          <a:xfrm>
            <a:off x="457200" y="1280160"/>
            <a:ext cx="4023360" cy="3200400"/>
          </a:xfrm>
          <a:prstGeom prst="roundRect">
            <a:avLst>
              <a:gd name="adj" fmla="val 3429"/>
            </a:avLst>
          </a:prstGeom>
          <a:solidFill>
            <a:schemeClr val="bg2"/>
          </a:solidFill>
          <a:ln w="12700">
            <a:solidFill>
              <a:schemeClr val="accent4"/>
            </a:solidFill>
            <a:prstDash val="solid"/>
          </a:ln>
        </p:spPr>
      </p:sp>
      <p:sp>
        <p:nvSpPr>
          <p:cNvPr id="5" name="Gallery circle"/>
          <p:cNvSpPr/>
          <p:nvPr/>
        </p:nvSpPr>
        <p:spPr>
          <a:xfrm>
            <a:off x="685800" y="1463040"/>
            <a:ext cx="548640" cy="548640"/>
          </a:xfrm>
          <a:prstGeom prst="ellipse">
            <a:avLst/>
          </a:prstGeom>
          <a:solidFill>
            <a:schemeClr val="accent1"/>
          </a:solidFill>
          <a:ln w="12700">
            <a:solidFill>
              <a:schemeClr val="accent1"/>
            </a:solidFill>
            <a:prstDash val="solid"/>
          </a:ln>
        </p:spPr>
      </p:sp>
      <p:pic>
        <p:nvPicPr>
          <p:cNvPr id="6" name="Gallery icon" descr="Gallery">    </p:cNvPr>
          <p:cNvPicPr>
            <a:picLocks noChangeAspect="1"/>
          </p:cNvPicPr>
          <p:nvPr/>
        </p:nvPicPr>
        <p:blipFill>
          <a:blip r:embed="rId1"/>
          <a:stretch>
            <a:fillRect/>
          </a:stretch>
        </p:blipFill>
        <p:spPr>
          <a:xfrm>
            <a:off x="822960" y="1600200"/>
            <a:ext cx="274320" cy="274320"/>
          </a:xfrm>
          <a:prstGeom prst="rect">
            <a:avLst/>
          </a:prstGeom>
        </p:spPr>
      </p:pic>
      <p:sp>
        <p:nvSpPr>
          <p:cNvPr id="7" name="Heading Gallery"/>
          <p:cNvSpPr txBox="1"/>
          <p:nvPr/>
        </p:nvSpPr>
        <p:spPr>
          <a:xfrm>
            <a:off x="1417320" y="1463040"/>
            <a:ext cx="2926080" cy="548640"/>
          </a:xfrm>
          <a:prstGeom prst="rect">
            <a:avLst/>
          </a:prstGeom>
          <a:noFill/>
          <a:ln/>
        </p:spPr>
        <p:txBody>
          <a:bodyPr wrap="square" lIns="0" tIns="0" rIns="0" bIns="0" rtlCol="0" anchor="ctr"/>
          <a:lstStyle/>
          <a:p>
            <a:pPr indent="0" marL="0">
              <a:buNone/>
            </a:pPr>
            <a:r>
              <a:rPr lang="en-US" sz="1600" b="1" dirty="0">
                <a:solidFill>
                  <a:schemeClr val="accent3"/>
                </a:solidFill>
              </a:rPr>
              <a:t>Gallery</a:t>
            </a:r>
            <a:endParaRPr lang="en-US" sz="1600" dirty="0"/>
          </a:p>
        </p:txBody>
      </p:sp>
      <p:sp>
        <p:nvSpPr>
          <p:cNvPr id="8" name="Bullets"/>
          <p:cNvSpPr txBox="1"/>
          <p:nvPr/>
        </p:nvSpPr>
        <p:spPr>
          <a:xfrm>
            <a:off x="731520" y="2240280"/>
            <a:ext cx="34747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9 photos: 6 sea creatures and 3 aquarium views</a:t>
            </a:r>
            <a:endParaRPr lang="en-US" sz="1400" dirty="0"/>
          </a:p>
          <a:p>
            <a:pPr marL="342900" indent="-342900">
              <a:spcAft>
                <a:spcPts val="600"/>
              </a:spcAft>
              <a:buSzPct val="100000"/>
              <a:buChar char="•"/>
            </a:pPr>
            <a:r>
              <a:rPr lang="en-US" sz="1400" dirty="0">
                <a:solidFill>
                  <a:schemeClr val="tx1"/>
                </a:solidFill>
              </a:rPr>
              <a:t>Filter buttons: All, Sea creatures, Aquarium</a:t>
            </a:r>
            <a:endParaRPr lang="en-US" sz="1400" dirty="0"/>
          </a:p>
          <a:p>
            <a:pPr marL="342900" indent="-342900">
              <a:spcAft>
                <a:spcPts val="600"/>
              </a:spcAft>
              <a:buSzPct val="100000"/>
              <a:buChar char="•"/>
            </a:pPr>
            <a:r>
              <a:rPr lang="en-US" sz="1400" dirty="0">
                <a:solidFill>
                  <a:schemeClr val="tx1"/>
                </a:solidFill>
              </a:rPr>
              <a:t>Cards are created by JavaScript from one list</a:t>
            </a:r>
            <a:endParaRPr lang="en-US" sz="1400" dirty="0"/>
          </a:p>
          <a:p>
            <a:pPr marL="342900" indent="-342900">
              <a:spcAft>
                <a:spcPts val="600"/>
              </a:spcAft>
              <a:buSzPct val="100000"/>
              <a:buChar char="•"/>
            </a:pPr>
            <a:r>
              <a:rPr lang="en-US" sz="1400" dirty="0">
                <a:solidFill>
                  <a:schemeClr val="tx1"/>
                </a:solidFill>
              </a:rPr>
              <a:t>If a photo is missing, a neat placeholder appears</a:t>
            </a:r>
            <a:endParaRPr lang="en-US" sz="1400" dirty="0"/>
          </a:p>
        </p:txBody>
      </p:sp>
      <p:sp>
        <p:nvSpPr>
          <p:cNvPr id="9" name="Marine card"/>
          <p:cNvSpPr/>
          <p:nvPr/>
        </p:nvSpPr>
        <p:spPr>
          <a:xfrm>
            <a:off x="4663440" y="1280160"/>
            <a:ext cx="4023360" cy="3200400"/>
          </a:xfrm>
          <a:prstGeom prst="roundRect">
            <a:avLst>
              <a:gd name="adj" fmla="val 3429"/>
            </a:avLst>
          </a:prstGeom>
          <a:solidFill>
            <a:schemeClr val="bg2"/>
          </a:solidFill>
          <a:ln w="12700">
            <a:solidFill>
              <a:schemeClr val="accent4"/>
            </a:solidFill>
            <a:prstDash val="solid"/>
          </a:ln>
        </p:spPr>
      </p:sp>
      <p:sp>
        <p:nvSpPr>
          <p:cNvPr id="10" name="Marine Life circle"/>
          <p:cNvSpPr/>
          <p:nvPr/>
        </p:nvSpPr>
        <p:spPr>
          <a:xfrm>
            <a:off x="4892040" y="1463040"/>
            <a:ext cx="548640" cy="548640"/>
          </a:xfrm>
          <a:prstGeom prst="ellipse">
            <a:avLst/>
          </a:prstGeom>
          <a:solidFill>
            <a:schemeClr val="accent1"/>
          </a:solidFill>
          <a:ln w="12700">
            <a:solidFill>
              <a:schemeClr val="accent1"/>
            </a:solidFill>
            <a:prstDash val="solid"/>
          </a:ln>
        </p:spPr>
      </p:sp>
      <p:pic>
        <p:nvPicPr>
          <p:cNvPr id="11" name="Marine Life icon" descr="Marine Life">    </p:cNvPr>
          <p:cNvPicPr>
            <a:picLocks noChangeAspect="1"/>
          </p:cNvPicPr>
          <p:nvPr/>
        </p:nvPicPr>
        <p:blipFill>
          <a:blip r:embed="rId2"/>
          <a:stretch>
            <a:fillRect/>
          </a:stretch>
        </p:blipFill>
        <p:spPr>
          <a:xfrm>
            <a:off x="5029200" y="1600200"/>
            <a:ext cx="274320" cy="274320"/>
          </a:xfrm>
          <a:prstGeom prst="rect">
            <a:avLst/>
          </a:prstGeom>
        </p:spPr>
      </p:pic>
      <p:sp>
        <p:nvSpPr>
          <p:cNvPr id="12" name="Heading Marine Life"/>
          <p:cNvSpPr txBox="1"/>
          <p:nvPr/>
        </p:nvSpPr>
        <p:spPr>
          <a:xfrm>
            <a:off x="5623560" y="1463040"/>
            <a:ext cx="2926080" cy="548640"/>
          </a:xfrm>
          <a:prstGeom prst="rect">
            <a:avLst/>
          </a:prstGeom>
          <a:noFill/>
          <a:ln/>
        </p:spPr>
        <p:txBody>
          <a:bodyPr wrap="square" lIns="0" tIns="0" rIns="0" bIns="0" rtlCol="0" anchor="ctr"/>
          <a:lstStyle/>
          <a:p>
            <a:pPr indent="0" marL="0">
              <a:buNone/>
            </a:pPr>
            <a:r>
              <a:rPr lang="en-US" sz="1600" b="1" dirty="0">
                <a:solidFill>
                  <a:schemeClr val="accent3"/>
                </a:solidFill>
              </a:rPr>
              <a:t>Marine Life</a:t>
            </a:r>
            <a:endParaRPr lang="en-US" sz="1600" dirty="0"/>
          </a:p>
        </p:txBody>
      </p:sp>
      <p:sp>
        <p:nvSpPr>
          <p:cNvPr id="13" name="Body 10"/>
          <p:cNvSpPr txBox="1"/>
          <p:nvPr/>
        </p:nvSpPr>
        <p:spPr>
          <a:xfrm>
            <a:off x="4937760" y="2103120"/>
            <a:ext cx="1371600" cy="64008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a:t>
            </a:r>
            <a:endParaRPr lang="en-US" sz="4000" dirty="0"/>
          </a:p>
        </p:txBody>
      </p:sp>
      <p:sp>
        <p:nvSpPr>
          <p:cNvPr id="14" name="Body new species"/>
          <p:cNvSpPr txBox="1"/>
          <p:nvPr/>
        </p:nvSpPr>
        <p:spPr>
          <a:xfrm>
            <a:off x="4937760" y="2743200"/>
            <a:ext cx="1463040" cy="274320"/>
          </a:xfrm>
          <a:prstGeom prst="rect">
            <a:avLst/>
          </a:prstGeom>
          <a:noFill/>
          <a:ln/>
        </p:spPr>
        <p:txBody>
          <a:bodyPr wrap="square" lIns="0" tIns="0" rIns="0" bIns="0" rtlCol="0" anchor="t"/>
          <a:lstStyle/>
          <a:p>
            <a:pPr indent="0" marL="0">
              <a:buNone/>
            </a:pPr>
            <a:r>
              <a:rPr lang="en-US" sz="1400" dirty="0">
                <a:solidFill>
                  <a:schemeClr val="tx2"/>
                </a:solidFill>
              </a:rPr>
              <a:t>new species</a:t>
            </a:r>
            <a:endParaRPr lang="en-US" sz="1400" dirty="0"/>
          </a:p>
        </p:txBody>
      </p:sp>
      <p:sp>
        <p:nvSpPr>
          <p:cNvPr id="15" name="Body 2024 - 2025"/>
          <p:cNvSpPr txBox="1"/>
          <p:nvPr/>
        </p:nvSpPr>
        <p:spPr>
          <a:xfrm>
            <a:off x="6583680" y="2103120"/>
            <a:ext cx="2011680" cy="64008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2024 - 2025</a:t>
            </a:r>
            <a:endParaRPr lang="en-US" sz="3200" dirty="0"/>
          </a:p>
        </p:txBody>
      </p:sp>
      <p:sp>
        <p:nvSpPr>
          <p:cNvPr id="16" name="Body years described"/>
          <p:cNvSpPr txBox="1"/>
          <p:nvPr/>
        </p:nvSpPr>
        <p:spPr>
          <a:xfrm>
            <a:off x="6583680" y="2743200"/>
            <a:ext cx="1920240" cy="274320"/>
          </a:xfrm>
          <a:prstGeom prst="rect">
            <a:avLst/>
          </a:prstGeom>
          <a:noFill/>
          <a:ln/>
        </p:spPr>
        <p:txBody>
          <a:bodyPr wrap="square" lIns="0" tIns="0" rIns="0" bIns="0" rtlCol="0" anchor="t"/>
          <a:lstStyle/>
          <a:p>
            <a:pPr indent="0" marL="0">
              <a:buNone/>
            </a:pPr>
            <a:r>
              <a:rPr lang="en-US" sz="1400" dirty="0">
                <a:solidFill>
                  <a:schemeClr val="tx2"/>
                </a:solidFill>
              </a:rPr>
              <a:t>years described</a:t>
            </a:r>
            <a:endParaRPr lang="en-US" sz="1400" dirty="0"/>
          </a:p>
        </p:txBody>
      </p:sp>
      <p:sp>
        <p:nvSpPr>
          <p:cNvPr id="17" name="Bullets"/>
          <p:cNvSpPr txBox="1"/>
          <p:nvPr/>
        </p:nvSpPr>
        <p:spPr>
          <a:xfrm>
            <a:off x="4937760" y="3246120"/>
            <a:ext cx="356616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Table: name, species, definition, scientists, year</a:t>
            </a:r>
            <a:endParaRPr lang="en-US" sz="1400" dirty="0"/>
          </a:p>
          <a:p>
            <a:pPr marL="342900" indent="-342900">
              <a:spcAft>
                <a:spcPts val="600"/>
              </a:spcAft>
              <a:buSzPct val="100000"/>
              <a:buChar char="•"/>
            </a:pPr>
            <a:r>
              <a:rPr lang="en-US" sz="1400" dirty="0">
                <a:solidFill>
                  <a:schemeClr val="tx1"/>
                </a:solidFill>
              </a:rPr>
              <a:t>Examples: Mystery mollusc, Atlantic manta ray</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9</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5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Visit, Events and Feedback</a:t>
            </a:r>
            <a:endParaRPr lang="en-US" sz="3600" dirty="0"/>
          </a:p>
        </p:txBody>
      </p:sp>
      <p:sp>
        <p:nvSpPr>
          <p:cNvPr id="4" name="Card Visit"/>
          <p:cNvSpPr/>
          <p:nvPr/>
        </p:nvSpPr>
        <p:spPr>
          <a:xfrm>
            <a:off x="457200" y="1280160"/>
            <a:ext cx="2651760" cy="3200400"/>
          </a:xfrm>
          <a:prstGeom prst="roundRect">
            <a:avLst>
              <a:gd name="adj" fmla="val 4138"/>
            </a:avLst>
          </a:prstGeom>
          <a:solidFill>
            <a:schemeClr val="bg2"/>
          </a:solidFill>
          <a:ln w="12700">
            <a:solidFill>
              <a:schemeClr val="accent4"/>
            </a:solidFill>
            <a:prstDash val="solid"/>
          </a:ln>
        </p:spPr>
      </p:sp>
      <p:sp>
        <p:nvSpPr>
          <p:cNvPr id="5" name="Visit circle"/>
          <p:cNvSpPr/>
          <p:nvPr/>
        </p:nvSpPr>
        <p:spPr>
          <a:xfrm>
            <a:off x="640080" y="1463040"/>
            <a:ext cx="502920" cy="502920"/>
          </a:xfrm>
          <a:prstGeom prst="ellipse">
            <a:avLst/>
          </a:prstGeom>
          <a:solidFill>
            <a:schemeClr val="accent1"/>
          </a:solidFill>
          <a:ln w="12700">
            <a:solidFill>
              <a:schemeClr val="accent1"/>
            </a:solidFill>
            <a:prstDash val="solid"/>
          </a:ln>
        </p:spPr>
      </p:sp>
      <p:pic>
        <p:nvPicPr>
          <p:cNvPr id="6" name="Visit icon" descr="Visit">    </p:cNvPr>
          <p:cNvPicPr>
            <a:picLocks noChangeAspect="1"/>
          </p:cNvPicPr>
          <p:nvPr/>
        </p:nvPicPr>
        <p:blipFill>
          <a:blip r:embed="rId1"/>
          <a:stretch>
            <a:fillRect/>
          </a:stretch>
        </p:blipFill>
        <p:spPr>
          <a:xfrm>
            <a:off x="765810" y="1588770"/>
            <a:ext cx="251460" cy="251460"/>
          </a:xfrm>
          <a:prstGeom prst="rect">
            <a:avLst/>
          </a:prstGeom>
        </p:spPr>
      </p:pic>
      <p:sp>
        <p:nvSpPr>
          <p:cNvPr id="7" name="Heading Visit"/>
          <p:cNvSpPr txBox="1"/>
          <p:nvPr/>
        </p:nvSpPr>
        <p:spPr>
          <a:xfrm>
            <a:off x="1280160" y="1463040"/>
            <a:ext cx="1737360" cy="502920"/>
          </a:xfrm>
          <a:prstGeom prst="rect">
            <a:avLst/>
          </a:prstGeom>
          <a:noFill/>
          <a:ln/>
        </p:spPr>
        <p:txBody>
          <a:bodyPr wrap="square" lIns="0" tIns="0" rIns="0" bIns="0" rtlCol="0" anchor="ctr"/>
          <a:lstStyle/>
          <a:p>
            <a:pPr indent="0" marL="0">
              <a:buNone/>
            </a:pPr>
            <a:r>
              <a:rPr lang="en-US" sz="1600" b="1" dirty="0">
                <a:solidFill>
                  <a:schemeClr val="accent3"/>
                </a:solidFill>
              </a:rPr>
              <a:t>Visit</a:t>
            </a:r>
            <a:endParaRPr lang="en-US" sz="1600" dirty="0"/>
          </a:p>
        </p:txBody>
      </p:sp>
      <p:sp>
        <p:nvSpPr>
          <p:cNvPr id="8" name="Bullets"/>
          <p:cNvSpPr txBox="1"/>
          <p:nvPr/>
        </p:nvSpPr>
        <p:spPr>
          <a:xfrm>
            <a:off x="685800" y="2240280"/>
            <a:ext cx="22402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Open Tue-Fri 10:00-18:00</a:t>
            </a:r>
            <a:endParaRPr lang="en-US" sz="1400" dirty="0"/>
          </a:p>
          <a:p>
            <a:pPr marL="342900" indent="-342900">
              <a:spcAft>
                <a:spcPts val="600"/>
              </a:spcAft>
              <a:buSzPct val="100000"/>
              <a:buChar char="•"/>
            </a:pPr>
            <a:r>
              <a:rPr lang="en-US" sz="1400" dirty="0">
                <a:solidFill>
                  <a:schemeClr val="tx1"/>
                </a:solidFill>
              </a:rPr>
              <a:t>Sat-Sun 09:00-19:00, closed Mondays</a:t>
            </a:r>
            <a:endParaRPr lang="en-US" sz="1400" dirty="0"/>
          </a:p>
          <a:p>
            <a:pPr marL="342900" indent="-342900">
              <a:spcAft>
                <a:spcPts val="600"/>
              </a:spcAft>
              <a:buSzPct val="100000"/>
              <a:buChar char="•"/>
            </a:pPr>
            <a:r>
              <a:rPr lang="en-US" sz="1400" dirty="0">
                <a:solidFill>
                  <a:schemeClr val="tx1"/>
                </a:solidFill>
              </a:rPr>
              <a:t>Adult $18, child $10, under 3 free</a:t>
            </a:r>
            <a:endParaRPr lang="en-US" sz="1400" dirty="0"/>
          </a:p>
          <a:p>
            <a:pPr marL="342900" indent="-342900">
              <a:spcAft>
                <a:spcPts val="600"/>
              </a:spcAft>
              <a:buSzPct val="100000"/>
              <a:buChar char="•"/>
            </a:pPr>
            <a:r>
              <a:rPr lang="en-US" sz="1400" dirty="0">
                <a:solidFill>
                  <a:schemeClr val="tx1"/>
                </a:solidFill>
              </a:rPr>
              <a:t>Nearby: promenade, plaza, harbour, trail</a:t>
            </a:r>
            <a:endParaRPr lang="en-US" sz="1400" dirty="0"/>
          </a:p>
        </p:txBody>
      </p:sp>
      <p:sp>
        <p:nvSpPr>
          <p:cNvPr id="9" name="Card Events"/>
          <p:cNvSpPr/>
          <p:nvPr/>
        </p:nvSpPr>
        <p:spPr>
          <a:xfrm>
            <a:off x="3246120" y="1280160"/>
            <a:ext cx="2651760" cy="3200400"/>
          </a:xfrm>
          <a:prstGeom prst="roundRect">
            <a:avLst>
              <a:gd name="adj" fmla="val 4138"/>
            </a:avLst>
          </a:prstGeom>
          <a:solidFill>
            <a:schemeClr val="bg2"/>
          </a:solidFill>
          <a:ln w="12700">
            <a:solidFill>
              <a:schemeClr val="accent4"/>
            </a:solidFill>
            <a:prstDash val="solid"/>
          </a:ln>
        </p:spPr>
      </p:sp>
      <p:sp>
        <p:nvSpPr>
          <p:cNvPr id="10" name="Events circle"/>
          <p:cNvSpPr/>
          <p:nvPr/>
        </p:nvSpPr>
        <p:spPr>
          <a:xfrm>
            <a:off x="3429000" y="1463040"/>
            <a:ext cx="502920" cy="502920"/>
          </a:xfrm>
          <a:prstGeom prst="ellipse">
            <a:avLst/>
          </a:prstGeom>
          <a:solidFill>
            <a:schemeClr val="accent1"/>
          </a:solidFill>
          <a:ln w="12700">
            <a:solidFill>
              <a:schemeClr val="accent1"/>
            </a:solidFill>
            <a:prstDash val="solid"/>
          </a:ln>
        </p:spPr>
      </p:sp>
      <p:pic>
        <p:nvPicPr>
          <p:cNvPr id="11" name="Events icon" descr="Events">    </p:cNvPr>
          <p:cNvPicPr>
            <a:picLocks noChangeAspect="1"/>
          </p:cNvPicPr>
          <p:nvPr/>
        </p:nvPicPr>
        <p:blipFill>
          <a:blip r:embed="rId2"/>
          <a:stretch>
            <a:fillRect/>
          </a:stretch>
        </p:blipFill>
        <p:spPr>
          <a:xfrm>
            <a:off x="3554730" y="1588770"/>
            <a:ext cx="251460" cy="251460"/>
          </a:xfrm>
          <a:prstGeom prst="rect">
            <a:avLst/>
          </a:prstGeom>
        </p:spPr>
      </p:pic>
      <p:sp>
        <p:nvSpPr>
          <p:cNvPr id="12" name="Heading Events"/>
          <p:cNvSpPr txBox="1"/>
          <p:nvPr/>
        </p:nvSpPr>
        <p:spPr>
          <a:xfrm>
            <a:off x="4069080" y="1463040"/>
            <a:ext cx="1737360" cy="502920"/>
          </a:xfrm>
          <a:prstGeom prst="rect">
            <a:avLst/>
          </a:prstGeom>
          <a:noFill/>
          <a:ln/>
        </p:spPr>
        <p:txBody>
          <a:bodyPr wrap="square" lIns="0" tIns="0" rIns="0" bIns="0" rtlCol="0" anchor="ctr"/>
          <a:lstStyle/>
          <a:p>
            <a:pPr indent="0" marL="0">
              <a:buNone/>
            </a:pPr>
            <a:r>
              <a:rPr lang="en-US" sz="1600" b="1" dirty="0">
                <a:solidFill>
                  <a:schemeClr val="accent3"/>
                </a:solidFill>
              </a:rPr>
              <a:t>Events</a:t>
            </a:r>
            <a:endParaRPr lang="en-US" sz="1600" dirty="0"/>
          </a:p>
        </p:txBody>
      </p:sp>
      <p:sp>
        <p:nvSpPr>
          <p:cNvPr id="13" name="Bullets"/>
          <p:cNvSpPr txBox="1"/>
          <p:nvPr/>
        </p:nvSpPr>
        <p:spPr>
          <a:xfrm>
            <a:off x="3474720" y="2240280"/>
            <a:ext cx="22402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Adult events: 4 programs, $12-$22</a:t>
            </a:r>
            <a:endParaRPr lang="en-US" sz="1400" dirty="0"/>
          </a:p>
          <a:p>
            <a:pPr marL="342900" indent="-342900">
              <a:spcAft>
                <a:spcPts val="600"/>
              </a:spcAft>
              <a:buSzPct val="100000"/>
              <a:buChar char="•"/>
            </a:pPr>
            <a:r>
              <a:rPr lang="en-US" sz="1400" dirty="0">
                <a:solidFill>
                  <a:schemeClr val="tx1"/>
                </a:solidFill>
              </a:rPr>
              <a:t>Children's events: 4 programs, free-$10</a:t>
            </a:r>
            <a:endParaRPr lang="en-US" sz="1400" dirty="0"/>
          </a:p>
          <a:p>
            <a:pPr marL="342900" indent="-342900">
              <a:spcAft>
                <a:spcPts val="600"/>
              </a:spcAft>
              <a:buSzPct val="100000"/>
              <a:buChar char="•"/>
            </a:pPr>
            <a:r>
              <a:rPr lang="en-US" sz="1400" dirty="0">
                <a:solidFill>
                  <a:schemeClr val="tx1"/>
                </a:solidFill>
              </a:rPr>
              <a:t>Each has day, time, details, price</a:t>
            </a:r>
            <a:endParaRPr lang="en-US" sz="1400" dirty="0"/>
          </a:p>
          <a:p>
            <a:pPr marL="342900" indent="-342900">
              <a:spcAft>
                <a:spcPts val="600"/>
              </a:spcAft>
              <a:buSzPct val="100000"/>
              <a:buChar char="•"/>
            </a:pPr>
            <a:r>
              <a:rPr lang="en-US" sz="1400" dirty="0">
                <a:solidFill>
                  <a:schemeClr val="tx1"/>
                </a:solidFill>
              </a:rPr>
              <a:t>Two separate tables</a:t>
            </a:r>
            <a:endParaRPr lang="en-US" sz="1400" dirty="0"/>
          </a:p>
        </p:txBody>
      </p:sp>
      <p:sp>
        <p:nvSpPr>
          <p:cNvPr id="14" name="Card Feedback"/>
          <p:cNvSpPr/>
          <p:nvPr/>
        </p:nvSpPr>
        <p:spPr>
          <a:xfrm>
            <a:off x="6035040" y="1280160"/>
            <a:ext cx="2651760" cy="3200400"/>
          </a:xfrm>
          <a:prstGeom prst="roundRect">
            <a:avLst>
              <a:gd name="adj" fmla="val 4138"/>
            </a:avLst>
          </a:prstGeom>
          <a:solidFill>
            <a:schemeClr val="bg2"/>
          </a:solidFill>
          <a:ln w="12700">
            <a:solidFill>
              <a:schemeClr val="accent4"/>
            </a:solidFill>
            <a:prstDash val="solid"/>
          </a:ln>
        </p:spPr>
      </p:sp>
      <p:sp>
        <p:nvSpPr>
          <p:cNvPr id="15" name="Feedback circle"/>
          <p:cNvSpPr/>
          <p:nvPr/>
        </p:nvSpPr>
        <p:spPr>
          <a:xfrm>
            <a:off x="6217920" y="1463040"/>
            <a:ext cx="502920" cy="502920"/>
          </a:xfrm>
          <a:prstGeom prst="ellipse">
            <a:avLst/>
          </a:prstGeom>
          <a:solidFill>
            <a:schemeClr val="accent1"/>
          </a:solidFill>
          <a:ln w="12700">
            <a:solidFill>
              <a:schemeClr val="accent1"/>
            </a:solidFill>
            <a:prstDash val="solid"/>
          </a:ln>
        </p:spPr>
      </p:sp>
      <p:pic>
        <p:nvPicPr>
          <p:cNvPr id="16" name="Feedback icon" descr="Feedback">    </p:cNvPr>
          <p:cNvPicPr>
            <a:picLocks noChangeAspect="1"/>
          </p:cNvPicPr>
          <p:nvPr/>
        </p:nvPicPr>
        <p:blipFill>
          <a:blip r:embed="rId3"/>
          <a:stretch>
            <a:fillRect/>
          </a:stretch>
        </p:blipFill>
        <p:spPr>
          <a:xfrm>
            <a:off x="6343650" y="1588770"/>
            <a:ext cx="251460" cy="251460"/>
          </a:xfrm>
          <a:prstGeom prst="rect">
            <a:avLst/>
          </a:prstGeom>
        </p:spPr>
      </p:pic>
      <p:sp>
        <p:nvSpPr>
          <p:cNvPr id="17" name="Heading Feedback"/>
          <p:cNvSpPr txBox="1"/>
          <p:nvPr/>
        </p:nvSpPr>
        <p:spPr>
          <a:xfrm>
            <a:off x="6858000" y="1463040"/>
            <a:ext cx="1737360" cy="502920"/>
          </a:xfrm>
          <a:prstGeom prst="rect">
            <a:avLst/>
          </a:prstGeom>
          <a:noFill/>
          <a:ln/>
        </p:spPr>
        <p:txBody>
          <a:bodyPr wrap="square" lIns="0" tIns="0" rIns="0" bIns="0" rtlCol="0" anchor="ctr"/>
          <a:lstStyle/>
          <a:p>
            <a:pPr indent="0" marL="0">
              <a:buNone/>
            </a:pPr>
            <a:r>
              <a:rPr lang="en-US" sz="1600" b="1" dirty="0">
                <a:solidFill>
                  <a:schemeClr val="accent3"/>
                </a:solidFill>
              </a:rPr>
              <a:t>Feedback</a:t>
            </a:r>
            <a:endParaRPr lang="en-US" sz="1600" dirty="0"/>
          </a:p>
        </p:txBody>
      </p:sp>
      <p:sp>
        <p:nvSpPr>
          <p:cNvPr id="18" name="Bullets"/>
          <p:cNvSpPr txBox="1"/>
          <p:nvPr/>
        </p:nvSpPr>
        <p:spPr>
          <a:xfrm>
            <a:off x="6263640" y="2240280"/>
            <a:ext cx="22402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5 sample visitor reviews</a:t>
            </a:r>
            <a:endParaRPr lang="en-US" sz="1400" dirty="0"/>
          </a:p>
          <a:p>
            <a:pPr marL="342900" indent="-342900">
              <a:spcAft>
                <a:spcPts val="600"/>
              </a:spcAft>
              <a:buSzPct val="100000"/>
              <a:buChar char="•"/>
            </a:pPr>
            <a:r>
              <a:rPr lang="en-US" sz="1400" dirty="0">
                <a:solidFill>
                  <a:schemeClr val="tx1"/>
                </a:solidFill>
              </a:rPr>
              <a:t>Star rating on every review</a:t>
            </a:r>
            <a:endParaRPr lang="en-US" sz="1400" dirty="0"/>
          </a:p>
          <a:p>
            <a:pPr marL="342900" indent="-342900">
              <a:spcAft>
                <a:spcPts val="600"/>
              </a:spcAft>
              <a:buSzPct val="100000"/>
              <a:buChar char="•"/>
            </a:pPr>
            <a:r>
              <a:rPr lang="en-US" sz="1400" dirty="0">
                <a:solidFill>
                  <a:schemeClr val="tx1"/>
                </a:solidFill>
              </a:rPr>
              <a:t>Average is calculated by JavaScript: 4.6</a:t>
            </a:r>
            <a:endParaRPr lang="en-US" sz="1400" dirty="0"/>
          </a:p>
          <a:p>
            <a:pPr marL="342900" indent="-342900">
              <a:spcAft>
                <a:spcPts val="600"/>
              </a:spcAft>
              <a:buSzPct val="100000"/>
              <a:buChar char="•"/>
            </a:pPr>
            <a:r>
              <a:rPr lang="en-US" sz="1400" dirty="0">
                <a:solidFill>
                  <a:schemeClr val="tx1"/>
                </a:solidFill>
              </a:rPr>
              <a:t>Clearly marked as dummy feedback</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10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par>
                          <p:cTn id="40" fill="hold">
                            <p:stCondLst>
                              <p:cond delay="1560"/>
                            </p:stCondLst>
                            <p:childTnLst>
                              <p:par>
                                <p:cTn id="41" presetID="10"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Booking form</a:t>
            </a:r>
            <a:endParaRPr lang="en-US" sz="3600" dirty="0"/>
          </a:p>
        </p:txBody>
      </p:sp>
      <p:sp>
        <p:nvSpPr>
          <p:cNvPr id="4" name="Validation card"/>
          <p:cNvSpPr/>
          <p:nvPr/>
        </p:nvSpPr>
        <p:spPr>
          <a:xfrm>
            <a:off x="457200" y="1280160"/>
            <a:ext cx="4754880" cy="3200400"/>
          </a:xfrm>
          <a:prstGeom prst="roundRect">
            <a:avLst>
              <a:gd name="adj" fmla="val 3429"/>
            </a:avLst>
          </a:prstGeom>
          <a:solidFill>
            <a:schemeClr val="bg2"/>
          </a:solidFill>
          <a:ln w="12700">
            <a:solidFill>
              <a:schemeClr val="accent4"/>
            </a:solidFill>
            <a:prstDash val="solid"/>
          </a:ln>
        </p:spPr>
      </p:sp>
      <p:sp>
        <p:nvSpPr>
          <p:cNvPr id="5" name="Validation circle"/>
          <p:cNvSpPr/>
          <p:nvPr/>
        </p:nvSpPr>
        <p:spPr>
          <a:xfrm>
            <a:off x="685800" y="1463040"/>
            <a:ext cx="548640" cy="548640"/>
          </a:xfrm>
          <a:prstGeom prst="ellipse">
            <a:avLst/>
          </a:prstGeom>
          <a:solidFill>
            <a:schemeClr val="accent1"/>
          </a:solidFill>
          <a:ln w="12700">
            <a:solidFill>
              <a:schemeClr val="accent1"/>
            </a:solidFill>
            <a:prstDash val="solid"/>
          </a:ln>
        </p:spPr>
      </p:sp>
      <p:pic>
        <p:nvPicPr>
          <p:cNvPr id="6" name="Validation icon" descr="Validation">    </p:cNvPr>
          <p:cNvPicPr>
            <a:picLocks noChangeAspect="1"/>
          </p:cNvPicPr>
          <p:nvPr/>
        </p:nvPicPr>
        <p:blipFill>
          <a:blip r:embed="rId1"/>
          <a:stretch>
            <a:fillRect/>
          </a:stretch>
        </p:blipFill>
        <p:spPr>
          <a:xfrm>
            <a:off x="822960" y="1600200"/>
            <a:ext cx="274320" cy="274320"/>
          </a:xfrm>
          <a:prstGeom prst="rect">
            <a:avLst/>
          </a:prstGeom>
        </p:spPr>
      </p:pic>
      <p:sp>
        <p:nvSpPr>
          <p:cNvPr id="7" name="Heading What the form checks"/>
          <p:cNvSpPr txBox="1"/>
          <p:nvPr/>
        </p:nvSpPr>
        <p:spPr>
          <a:xfrm>
            <a:off x="1417320" y="1463040"/>
            <a:ext cx="3657600" cy="548640"/>
          </a:xfrm>
          <a:prstGeom prst="rect">
            <a:avLst/>
          </a:prstGeom>
          <a:noFill/>
          <a:ln/>
        </p:spPr>
        <p:txBody>
          <a:bodyPr wrap="square" lIns="0" tIns="0" rIns="0" bIns="0" rtlCol="0" anchor="ctr"/>
          <a:lstStyle/>
          <a:p>
            <a:pPr indent="0" marL="0">
              <a:buNone/>
            </a:pPr>
            <a:r>
              <a:rPr lang="en-US" sz="1600" b="1" dirty="0">
                <a:solidFill>
                  <a:schemeClr val="accent3"/>
                </a:solidFill>
              </a:rPr>
              <a:t>What the form checks</a:t>
            </a:r>
            <a:endParaRPr lang="en-US" sz="1600" dirty="0"/>
          </a:p>
        </p:txBody>
      </p:sp>
      <p:sp>
        <p:nvSpPr>
          <p:cNvPr id="8" name="Bullets"/>
          <p:cNvSpPr txBox="1"/>
          <p:nvPr/>
        </p:nvSpPr>
        <p:spPr>
          <a:xfrm>
            <a:off x="731520" y="2240280"/>
            <a:ext cx="429768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Name: letters only, at least 3 characters</a:t>
            </a:r>
            <a:endParaRPr lang="en-US" sz="1400" dirty="0"/>
          </a:p>
          <a:p>
            <a:pPr marL="342900" indent="-342900">
              <a:spcAft>
                <a:spcPts val="600"/>
              </a:spcAft>
              <a:buSzPct val="100000"/>
              <a:buChar char="•"/>
            </a:pPr>
            <a:r>
              <a:rPr lang="en-US" sz="1400" dirty="0">
                <a:solidFill>
                  <a:schemeClr val="tx1"/>
                </a:solidFill>
              </a:rPr>
              <a:t>Email and phone: valid format</a:t>
            </a:r>
            <a:endParaRPr lang="en-US" sz="1400" dirty="0"/>
          </a:p>
          <a:p>
            <a:pPr marL="342900" indent="-342900">
              <a:spcAft>
                <a:spcPts val="600"/>
              </a:spcAft>
              <a:buSzPct val="100000"/>
              <a:buChar char="•"/>
            </a:pPr>
            <a:r>
              <a:rPr lang="en-US" sz="1400" dirty="0">
                <a:solidFill>
                  <a:schemeClr val="tx1"/>
                </a:solidFill>
              </a:rPr>
              <a:t>Date: not in the past and not a Monday</a:t>
            </a:r>
            <a:endParaRPr lang="en-US" sz="1400" dirty="0"/>
          </a:p>
          <a:p>
            <a:pPr marL="342900" indent="-342900">
              <a:spcAft>
                <a:spcPts val="600"/>
              </a:spcAft>
              <a:buSzPct val="100000"/>
              <a:buChar char="•"/>
            </a:pPr>
            <a:r>
              <a:rPr lang="en-US" sz="1400" dirty="0">
                <a:solidFill>
                  <a:schemeClr val="tx1"/>
                </a:solidFill>
              </a:rPr>
              <a:t>Time slot, 1-10 adults, 0-10 children</a:t>
            </a:r>
            <a:endParaRPr lang="en-US" sz="1400" dirty="0"/>
          </a:p>
          <a:p>
            <a:pPr marL="342900" indent="-342900">
              <a:spcAft>
                <a:spcPts val="600"/>
              </a:spcAft>
              <a:buSzPct val="100000"/>
              <a:buChar char="•"/>
            </a:pPr>
            <a:r>
              <a:rPr lang="en-US" sz="1400" dirty="0">
                <a:solidFill>
                  <a:schemeClr val="tx1"/>
                </a:solidFill>
              </a:rPr>
              <a:t>Terms box must be ticked</a:t>
            </a:r>
            <a:endParaRPr lang="en-US" sz="1400" dirty="0"/>
          </a:p>
        </p:txBody>
      </p:sp>
      <p:sp>
        <p:nvSpPr>
          <p:cNvPr id="9" name="Total card"/>
          <p:cNvSpPr/>
          <p:nvPr/>
        </p:nvSpPr>
        <p:spPr>
          <a:xfrm>
            <a:off x="5394960" y="1280160"/>
            <a:ext cx="3291840" cy="3200400"/>
          </a:xfrm>
          <a:prstGeom prst="roundRect">
            <a:avLst>
              <a:gd name="adj" fmla="val 3429"/>
            </a:avLst>
          </a:prstGeom>
          <a:solidFill>
            <a:schemeClr val="accent5"/>
          </a:solidFill>
          <a:ln w="12700">
            <a:solidFill>
              <a:schemeClr val="accent4"/>
            </a:solidFill>
            <a:prstDash val="solid"/>
          </a:ln>
        </p:spPr>
      </p:sp>
      <p:sp>
        <p:nvSpPr>
          <p:cNvPr id="10" name="Body Live total"/>
          <p:cNvSpPr txBox="1"/>
          <p:nvPr/>
        </p:nvSpPr>
        <p:spPr>
          <a:xfrm>
            <a:off x="5623560" y="1463040"/>
            <a:ext cx="2834640" cy="320040"/>
          </a:xfrm>
          <a:prstGeom prst="rect">
            <a:avLst/>
          </a:prstGeom>
          <a:noFill/>
          <a:ln/>
        </p:spPr>
        <p:txBody>
          <a:bodyPr wrap="square" lIns="0" tIns="0" rIns="0" bIns="0" rtlCol="0" anchor="t"/>
          <a:lstStyle/>
          <a:p>
            <a:pPr indent="0" marL="0">
              <a:buNone/>
            </a:pPr>
            <a:r>
              <a:rPr lang="en-US" sz="1600" b="1" dirty="0">
                <a:solidFill>
                  <a:schemeClr val="accent3"/>
                </a:solidFill>
              </a:rPr>
              <a:t>Live total</a:t>
            </a:r>
            <a:endParaRPr lang="en-US" sz="1600" dirty="0"/>
          </a:p>
        </p:txBody>
      </p:sp>
      <p:sp>
        <p:nvSpPr>
          <p:cNvPr id="11" name="Body $46"/>
          <p:cNvSpPr txBox="1"/>
          <p:nvPr/>
        </p:nvSpPr>
        <p:spPr>
          <a:xfrm>
            <a:off x="5623560" y="1828800"/>
            <a:ext cx="2834640" cy="91440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$46</a:t>
            </a:r>
            <a:endParaRPr lang="en-US" sz="5400" dirty="0"/>
          </a:p>
        </p:txBody>
      </p:sp>
      <p:sp>
        <p:nvSpPr>
          <p:cNvPr id="12" name="Body 2 adults x $18 + 1 c"/>
          <p:cNvSpPr txBox="1"/>
          <p:nvPr/>
        </p:nvSpPr>
        <p:spPr>
          <a:xfrm>
            <a:off x="5623560" y="2788920"/>
            <a:ext cx="2834640" cy="320040"/>
          </a:xfrm>
          <a:prstGeom prst="rect">
            <a:avLst/>
          </a:prstGeom>
          <a:noFill/>
          <a:ln/>
        </p:spPr>
        <p:txBody>
          <a:bodyPr wrap="square" lIns="0" tIns="0" rIns="0" bIns="0" rtlCol="0" anchor="t"/>
          <a:lstStyle/>
          <a:p>
            <a:pPr indent="0" marL="0">
              <a:buNone/>
            </a:pPr>
            <a:r>
              <a:rPr lang="en-US" sz="1400" dirty="0">
                <a:solidFill>
                  <a:schemeClr val="tx1"/>
                </a:solidFill>
              </a:rPr>
              <a:t>2 adults x $18 + 1 child x $10</a:t>
            </a:r>
            <a:endParaRPr lang="en-US" sz="1400" dirty="0"/>
          </a:p>
        </p:txBody>
      </p:sp>
      <p:sp>
        <p:nvSpPr>
          <p:cNvPr id="13" name="Body After confirming, a "/>
          <p:cNvSpPr txBox="1"/>
          <p:nvPr/>
        </p:nvSpPr>
        <p:spPr>
          <a:xfrm>
            <a:off x="5623560" y="3246120"/>
            <a:ext cx="2834640" cy="822960"/>
          </a:xfrm>
          <a:prstGeom prst="rect">
            <a:avLst/>
          </a:prstGeom>
          <a:noFill/>
          <a:ln/>
        </p:spPr>
        <p:txBody>
          <a:bodyPr wrap="square" lIns="0" tIns="0" rIns="0" bIns="0" rtlCol="0" anchor="t"/>
          <a:lstStyle/>
          <a:p>
            <a:pPr indent="0" marL="0">
              <a:buNone/>
            </a:pPr>
            <a:r>
              <a:rPr lang="en-US" sz="1400" dirty="0">
                <a:solidFill>
                  <a:schemeClr val="tx2"/>
                </a:solidFill>
              </a:rPr>
              <a:t>After confirming, a reference code like NX-4F7K2A is shown.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11</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The 3D hologram fish</a:t>
            </a:r>
            <a:endParaRPr lang="en-US" sz="3600" dirty="0"/>
          </a:p>
        </p:txBody>
      </p:sp>
      <p:sp>
        <p:nvSpPr>
          <p:cNvPr id="4" name="Fish card Hologram look"/>
          <p:cNvSpPr/>
          <p:nvPr/>
        </p:nvSpPr>
        <p:spPr>
          <a:xfrm>
            <a:off x="457200" y="1280160"/>
            <a:ext cx="4023360" cy="1600200"/>
          </a:xfrm>
          <a:prstGeom prst="roundRect">
            <a:avLst>
              <a:gd name="adj" fmla="val 6857"/>
            </a:avLst>
          </a:prstGeom>
          <a:solidFill>
            <a:schemeClr val="bg2"/>
          </a:solidFill>
          <a:ln w="12700">
            <a:solidFill>
              <a:schemeClr val="accent4"/>
            </a:solidFill>
            <a:prstDash val="solid"/>
          </a:ln>
        </p:spPr>
      </p:sp>
      <p:sp>
        <p:nvSpPr>
          <p:cNvPr id="5" name="Hologram look circle"/>
          <p:cNvSpPr/>
          <p:nvPr/>
        </p:nvSpPr>
        <p:spPr>
          <a:xfrm>
            <a:off x="685800" y="1508760"/>
            <a:ext cx="502920" cy="502920"/>
          </a:xfrm>
          <a:prstGeom prst="ellipse">
            <a:avLst/>
          </a:prstGeom>
          <a:solidFill>
            <a:schemeClr val="accent1"/>
          </a:solidFill>
          <a:ln w="12700">
            <a:solidFill>
              <a:schemeClr val="accent1"/>
            </a:solidFill>
            <a:prstDash val="solid"/>
          </a:ln>
        </p:spPr>
      </p:sp>
      <p:pic>
        <p:nvPicPr>
          <p:cNvPr id="6" name="Hologram look icon" descr="Hologram look">    </p:cNvPr>
          <p:cNvPicPr>
            <a:picLocks noChangeAspect="1"/>
          </p:cNvPicPr>
          <p:nvPr/>
        </p:nvPicPr>
        <p:blipFill>
          <a:blip r:embed="rId1"/>
          <a:stretch>
            <a:fillRect/>
          </a:stretch>
        </p:blipFill>
        <p:spPr>
          <a:xfrm>
            <a:off x="811530" y="1634490"/>
            <a:ext cx="251460" cy="251460"/>
          </a:xfrm>
          <a:prstGeom prst="rect">
            <a:avLst/>
          </a:prstGeom>
        </p:spPr>
      </p:pic>
      <p:sp>
        <p:nvSpPr>
          <p:cNvPr id="7" name="Heading Hologram look"/>
          <p:cNvSpPr txBox="1"/>
          <p:nvPr/>
        </p:nvSpPr>
        <p:spPr>
          <a:xfrm>
            <a:off x="1371600" y="1463040"/>
            <a:ext cx="2926080" cy="320040"/>
          </a:xfrm>
          <a:prstGeom prst="rect">
            <a:avLst/>
          </a:prstGeom>
          <a:noFill/>
          <a:ln/>
        </p:spPr>
        <p:txBody>
          <a:bodyPr wrap="square" lIns="0" tIns="0" rIns="0" bIns="0" rtlCol="0" anchor="ctr"/>
          <a:lstStyle/>
          <a:p>
            <a:pPr indent="0" marL="0">
              <a:buNone/>
            </a:pPr>
            <a:r>
              <a:rPr lang="en-US" sz="1600" b="1" dirty="0">
                <a:solidFill>
                  <a:schemeClr val="accent3"/>
                </a:solidFill>
              </a:rPr>
              <a:t>Hologram look</a:t>
            </a:r>
            <a:endParaRPr lang="en-US" sz="1600" dirty="0"/>
          </a:p>
        </p:txBody>
      </p:sp>
      <p:sp>
        <p:nvSpPr>
          <p:cNvPr id="8" name="Body A custom shader give"/>
          <p:cNvSpPr txBox="1"/>
          <p:nvPr/>
        </p:nvSpPr>
        <p:spPr>
          <a:xfrm>
            <a:off x="1371600" y="1874520"/>
            <a:ext cx="2926080" cy="914400"/>
          </a:xfrm>
          <a:prstGeom prst="rect">
            <a:avLst/>
          </a:prstGeom>
          <a:noFill/>
          <a:ln/>
        </p:spPr>
        <p:txBody>
          <a:bodyPr wrap="square" lIns="0" tIns="0" rIns="0" bIns="0" rtlCol="0" anchor="t"/>
          <a:lstStyle/>
          <a:p>
            <a:pPr indent="0" marL="0">
              <a:buNone/>
            </a:pPr>
            <a:r>
              <a:rPr lang="en-US" sz="1400" dirty="0">
                <a:solidFill>
                  <a:schemeClr val="tx1"/>
                </a:solidFill>
              </a:rPr>
              <a:t>A custom shader gives glowing cyan and gold stripes with a flicker.</a:t>
            </a:r>
            <a:endParaRPr lang="en-US" sz="1400" dirty="0"/>
          </a:p>
        </p:txBody>
      </p:sp>
      <p:sp>
        <p:nvSpPr>
          <p:cNvPr id="9" name="Fish card Follows your cursor"/>
          <p:cNvSpPr/>
          <p:nvPr/>
        </p:nvSpPr>
        <p:spPr>
          <a:xfrm>
            <a:off x="4663440" y="1280160"/>
            <a:ext cx="4023360" cy="1600200"/>
          </a:xfrm>
          <a:prstGeom prst="roundRect">
            <a:avLst>
              <a:gd name="adj" fmla="val 6857"/>
            </a:avLst>
          </a:prstGeom>
          <a:solidFill>
            <a:schemeClr val="bg2"/>
          </a:solidFill>
          <a:ln w="12700">
            <a:solidFill>
              <a:schemeClr val="accent4"/>
            </a:solidFill>
            <a:prstDash val="solid"/>
          </a:ln>
        </p:spPr>
      </p:sp>
      <p:sp>
        <p:nvSpPr>
          <p:cNvPr id="10" name="Follows your cursor circle"/>
          <p:cNvSpPr/>
          <p:nvPr/>
        </p:nvSpPr>
        <p:spPr>
          <a:xfrm>
            <a:off x="4892040" y="1508760"/>
            <a:ext cx="502920" cy="502920"/>
          </a:xfrm>
          <a:prstGeom prst="ellipse">
            <a:avLst/>
          </a:prstGeom>
          <a:solidFill>
            <a:schemeClr val="accent1"/>
          </a:solidFill>
          <a:ln w="12700">
            <a:solidFill>
              <a:schemeClr val="accent1"/>
            </a:solidFill>
            <a:prstDash val="solid"/>
          </a:ln>
        </p:spPr>
      </p:sp>
      <p:pic>
        <p:nvPicPr>
          <p:cNvPr id="11" name="Follows your cursor icon" descr="Follows your cursor">    </p:cNvPr>
          <p:cNvPicPr>
            <a:picLocks noChangeAspect="1"/>
          </p:cNvPicPr>
          <p:nvPr/>
        </p:nvPicPr>
        <p:blipFill>
          <a:blip r:embed="rId2"/>
          <a:stretch>
            <a:fillRect/>
          </a:stretch>
        </p:blipFill>
        <p:spPr>
          <a:xfrm>
            <a:off x="5017770" y="1634490"/>
            <a:ext cx="251460" cy="251460"/>
          </a:xfrm>
          <a:prstGeom prst="rect">
            <a:avLst/>
          </a:prstGeom>
        </p:spPr>
      </p:pic>
      <p:sp>
        <p:nvSpPr>
          <p:cNvPr id="12" name="Heading Follows your cursor"/>
          <p:cNvSpPr txBox="1"/>
          <p:nvPr/>
        </p:nvSpPr>
        <p:spPr>
          <a:xfrm>
            <a:off x="5577840" y="1463040"/>
            <a:ext cx="2926080" cy="320040"/>
          </a:xfrm>
          <a:prstGeom prst="rect">
            <a:avLst/>
          </a:prstGeom>
          <a:noFill/>
          <a:ln/>
        </p:spPr>
        <p:txBody>
          <a:bodyPr wrap="square" lIns="0" tIns="0" rIns="0" bIns="0" rtlCol="0" anchor="ctr"/>
          <a:lstStyle/>
          <a:p>
            <a:pPr indent="0" marL="0">
              <a:buNone/>
            </a:pPr>
            <a:r>
              <a:rPr lang="en-US" sz="1600" b="1" dirty="0">
                <a:solidFill>
                  <a:schemeClr val="accent3"/>
                </a:solidFill>
              </a:rPr>
              <a:t>Follows your cursor</a:t>
            </a:r>
            <a:endParaRPr lang="en-US" sz="1600" dirty="0"/>
          </a:p>
        </p:txBody>
      </p:sp>
      <p:sp>
        <p:nvSpPr>
          <p:cNvPr id="13" name="Body It swims toward the "/>
          <p:cNvSpPr txBox="1"/>
          <p:nvPr/>
        </p:nvSpPr>
        <p:spPr>
          <a:xfrm>
            <a:off x="5577840" y="1874520"/>
            <a:ext cx="2926080" cy="914400"/>
          </a:xfrm>
          <a:prstGeom prst="rect">
            <a:avLst/>
          </a:prstGeom>
          <a:noFill/>
          <a:ln/>
        </p:spPr>
        <p:txBody>
          <a:bodyPr wrap="square" lIns="0" tIns="0" rIns="0" bIns="0" rtlCol="0" anchor="t"/>
          <a:lstStyle/>
          <a:p>
            <a:pPr indent="0" marL="0">
              <a:buNone/>
            </a:pPr>
            <a:r>
              <a:rPr lang="en-US" sz="1400" dirty="0">
                <a:solidFill>
                  <a:schemeClr val="tx1"/>
                </a:solidFill>
              </a:rPr>
              <a:t>It swims toward the mouse or finger and wanders alone when idle.</a:t>
            </a:r>
            <a:endParaRPr lang="en-US" sz="1400" dirty="0"/>
          </a:p>
        </p:txBody>
      </p:sp>
      <p:sp>
        <p:nvSpPr>
          <p:cNvPr id="14" name="Fish card Reacts to touch"/>
          <p:cNvSpPr/>
          <p:nvPr/>
        </p:nvSpPr>
        <p:spPr>
          <a:xfrm>
            <a:off x="457200" y="3017520"/>
            <a:ext cx="4023360" cy="1600200"/>
          </a:xfrm>
          <a:prstGeom prst="roundRect">
            <a:avLst>
              <a:gd name="adj" fmla="val 6857"/>
            </a:avLst>
          </a:prstGeom>
          <a:solidFill>
            <a:schemeClr val="bg2"/>
          </a:solidFill>
          <a:ln w="12700">
            <a:solidFill>
              <a:schemeClr val="accent4"/>
            </a:solidFill>
            <a:prstDash val="solid"/>
          </a:ln>
        </p:spPr>
      </p:sp>
      <p:sp>
        <p:nvSpPr>
          <p:cNvPr id="15" name="Reacts to touch circle"/>
          <p:cNvSpPr/>
          <p:nvPr/>
        </p:nvSpPr>
        <p:spPr>
          <a:xfrm>
            <a:off x="685800" y="3246120"/>
            <a:ext cx="502920" cy="502920"/>
          </a:xfrm>
          <a:prstGeom prst="ellipse">
            <a:avLst/>
          </a:prstGeom>
          <a:solidFill>
            <a:schemeClr val="accent1"/>
          </a:solidFill>
          <a:ln w="12700">
            <a:solidFill>
              <a:schemeClr val="accent1"/>
            </a:solidFill>
            <a:prstDash val="solid"/>
          </a:ln>
        </p:spPr>
      </p:sp>
      <p:pic>
        <p:nvPicPr>
          <p:cNvPr id="16" name="Reacts to touch icon" descr="Reacts to touch">    </p:cNvPr>
          <p:cNvPicPr>
            <a:picLocks noChangeAspect="1"/>
          </p:cNvPicPr>
          <p:nvPr/>
        </p:nvPicPr>
        <p:blipFill>
          <a:blip r:embed="rId3"/>
          <a:stretch>
            <a:fillRect/>
          </a:stretch>
        </p:blipFill>
        <p:spPr>
          <a:xfrm>
            <a:off x="811530" y="3371850"/>
            <a:ext cx="251460" cy="251460"/>
          </a:xfrm>
          <a:prstGeom prst="rect">
            <a:avLst/>
          </a:prstGeom>
        </p:spPr>
      </p:pic>
      <p:sp>
        <p:nvSpPr>
          <p:cNvPr id="17" name="Heading Reacts to touch"/>
          <p:cNvSpPr txBox="1"/>
          <p:nvPr/>
        </p:nvSpPr>
        <p:spPr>
          <a:xfrm>
            <a:off x="1371600" y="3200400"/>
            <a:ext cx="2926080" cy="320040"/>
          </a:xfrm>
          <a:prstGeom prst="rect">
            <a:avLst/>
          </a:prstGeom>
          <a:noFill/>
          <a:ln/>
        </p:spPr>
        <p:txBody>
          <a:bodyPr wrap="square" lIns="0" tIns="0" rIns="0" bIns="0" rtlCol="0" anchor="ctr"/>
          <a:lstStyle/>
          <a:p>
            <a:pPr indent="0" marL="0">
              <a:buNone/>
            </a:pPr>
            <a:r>
              <a:rPr lang="en-US" sz="1600" b="1" dirty="0">
                <a:solidFill>
                  <a:schemeClr val="accent3"/>
                </a:solidFill>
              </a:rPr>
              <a:t>Reacts to touch</a:t>
            </a:r>
            <a:endParaRPr lang="en-US" sz="1600" dirty="0"/>
          </a:p>
        </p:txBody>
      </p:sp>
      <p:sp>
        <p:nvSpPr>
          <p:cNvPr id="18" name="Body Hover or tap and it "/>
          <p:cNvSpPr txBox="1"/>
          <p:nvPr/>
        </p:nvSpPr>
        <p:spPr>
          <a:xfrm>
            <a:off x="1371600" y="3611880"/>
            <a:ext cx="2926080" cy="914400"/>
          </a:xfrm>
          <a:prstGeom prst="rect">
            <a:avLst/>
          </a:prstGeom>
          <a:noFill/>
          <a:ln/>
        </p:spPr>
        <p:txBody>
          <a:bodyPr wrap="square" lIns="0" tIns="0" rIns="0" bIns="0" rtlCol="0" anchor="t"/>
          <a:lstStyle/>
          <a:p>
            <a:pPr indent="0" marL="0">
              <a:buNone/>
            </a:pPr>
            <a:r>
              <a:rPr lang="en-US" sz="1400" dirty="0">
                <a:solidFill>
                  <a:schemeClr val="tx1"/>
                </a:solidFill>
              </a:rPr>
              <a:t>Hover or tap and it spins, flashes and releases bubbles.</a:t>
            </a:r>
            <a:endParaRPr lang="en-US" sz="1400" dirty="0"/>
          </a:p>
        </p:txBody>
      </p:sp>
      <p:sp>
        <p:nvSpPr>
          <p:cNvPr id="19" name="Fish card Safe and light"/>
          <p:cNvSpPr/>
          <p:nvPr/>
        </p:nvSpPr>
        <p:spPr>
          <a:xfrm>
            <a:off x="4663440" y="3017520"/>
            <a:ext cx="4023360" cy="1600200"/>
          </a:xfrm>
          <a:prstGeom prst="roundRect">
            <a:avLst>
              <a:gd name="adj" fmla="val 6857"/>
            </a:avLst>
          </a:prstGeom>
          <a:solidFill>
            <a:schemeClr val="bg2"/>
          </a:solidFill>
          <a:ln w="12700">
            <a:solidFill>
              <a:schemeClr val="accent4"/>
            </a:solidFill>
            <a:prstDash val="solid"/>
          </a:ln>
        </p:spPr>
      </p:sp>
      <p:sp>
        <p:nvSpPr>
          <p:cNvPr id="20" name="Safe and light circle"/>
          <p:cNvSpPr/>
          <p:nvPr/>
        </p:nvSpPr>
        <p:spPr>
          <a:xfrm>
            <a:off x="4892040" y="3246120"/>
            <a:ext cx="502920" cy="502920"/>
          </a:xfrm>
          <a:prstGeom prst="ellipse">
            <a:avLst/>
          </a:prstGeom>
          <a:solidFill>
            <a:schemeClr val="accent1"/>
          </a:solidFill>
          <a:ln w="12700">
            <a:solidFill>
              <a:schemeClr val="accent1"/>
            </a:solidFill>
            <a:prstDash val="solid"/>
          </a:ln>
        </p:spPr>
      </p:sp>
      <p:pic>
        <p:nvPicPr>
          <p:cNvPr id="21" name="Safe and light icon" descr="Safe and light">    </p:cNvPr>
          <p:cNvPicPr>
            <a:picLocks noChangeAspect="1"/>
          </p:cNvPicPr>
          <p:nvPr/>
        </p:nvPicPr>
        <p:blipFill>
          <a:blip r:embed="rId4"/>
          <a:stretch>
            <a:fillRect/>
          </a:stretch>
        </p:blipFill>
        <p:spPr>
          <a:xfrm>
            <a:off x="5017770" y="3371850"/>
            <a:ext cx="251460" cy="251460"/>
          </a:xfrm>
          <a:prstGeom prst="rect">
            <a:avLst/>
          </a:prstGeom>
        </p:spPr>
      </p:pic>
      <p:sp>
        <p:nvSpPr>
          <p:cNvPr id="22" name="Heading Safe and light"/>
          <p:cNvSpPr txBox="1"/>
          <p:nvPr/>
        </p:nvSpPr>
        <p:spPr>
          <a:xfrm>
            <a:off x="5577840" y="3200400"/>
            <a:ext cx="2926080" cy="320040"/>
          </a:xfrm>
          <a:prstGeom prst="rect">
            <a:avLst/>
          </a:prstGeom>
          <a:noFill/>
          <a:ln/>
        </p:spPr>
        <p:txBody>
          <a:bodyPr wrap="square" lIns="0" tIns="0" rIns="0" bIns="0" rtlCol="0" anchor="ctr"/>
          <a:lstStyle/>
          <a:p>
            <a:pPr indent="0" marL="0">
              <a:buNone/>
            </a:pPr>
            <a:r>
              <a:rPr lang="en-US" sz="1600" b="1" dirty="0">
                <a:solidFill>
                  <a:schemeClr val="accent3"/>
                </a:solidFill>
              </a:rPr>
              <a:t>Safe and light</a:t>
            </a:r>
            <a:endParaRPr lang="en-US" sz="1600" dirty="0"/>
          </a:p>
        </p:txBody>
      </p:sp>
      <p:sp>
        <p:nvSpPr>
          <p:cNvPr id="23" name="Body Skips itself without"/>
          <p:cNvSpPr txBox="1"/>
          <p:nvPr/>
        </p:nvSpPr>
        <p:spPr>
          <a:xfrm>
            <a:off x="5577840" y="3611880"/>
            <a:ext cx="2926080" cy="914400"/>
          </a:xfrm>
          <a:prstGeom prst="rect">
            <a:avLst/>
          </a:prstGeom>
          <a:noFill/>
          <a:ln/>
        </p:spPr>
        <p:txBody>
          <a:bodyPr wrap="square" lIns="0" tIns="0" rIns="0" bIns="0" rtlCol="0" anchor="t"/>
          <a:lstStyle/>
          <a:p>
            <a:pPr indent="0" marL="0">
              <a:buNone/>
            </a:pPr>
            <a:r>
              <a:rPr lang="en-US" sz="1400" dirty="0">
                <a:solidFill>
                  <a:schemeClr val="tx1"/>
                </a:solidFill>
              </a:rPr>
              <a:t>Skips itself without WebGL and calms down for reduced motion.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12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par>
                          <p:cTn id="40" fill="hold">
                            <p:stCondLst>
                              <p:cond delay="1560"/>
                            </p:stCondLst>
                            <p:childTnLst>
                              <p:par>
                                <p:cTn id="41" presetID="10"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childTnLst>
                          </p:cTn>
                        </p:par>
                        <p:par>
                          <p:cTn id="56" fill="hold">
                            <p:stCondLst>
                              <p:cond delay="208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5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Problems we fixed</a:t>
            </a:r>
            <a:endParaRPr lang="en-US" sz="3600" dirty="0"/>
          </a:p>
        </p:txBody>
      </p:sp>
      <p:sp>
        <p:nvSpPr>
          <p:cNvPr id="4" name="Body PROBLEM"/>
          <p:cNvSpPr txBox="1"/>
          <p:nvPr/>
        </p:nvSpPr>
        <p:spPr>
          <a:xfrm>
            <a:off x="457200" y="1097280"/>
            <a:ext cx="3566160" cy="228600"/>
          </a:xfrm>
          <a:prstGeom prst="rect">
            <a:avLst/>
          </a:prstGeom>
          <a:noFill/>
          <a:ln/>
        </p:spPr>
        <p:txBody>
          <a:bodyPr wrap="square" lIns="0" tIns="0" rIns="0" bIns="0" rtlCol="0" anchor="t"/>
          <a:lstStyle/>
          <a:p>
            <a:pPr indent="0" marL="0">
              <a:buNone/>
            </a:pPr>
            <a:r>
              <a:rPr lang="en-US" sz="1200" b="1" dirty="0">
                <a:solidFill>
                  <a:schemeClr val="accent2"/>
                </a:solidFill>
              </a:rPr>
              <a:t>PROBLEM</a:t>
            </a:r>
            <a:endParaRPr lang="en-US" sz="1200" dirty="0"/>
          </a:p>
        </p:txBody>
      </p:sp>
      <p:sp>
        <p:nvSpPr>
          <p:cNvPr id="5" name="Body FIX"/>
          <p:cNvSpPr txBox="1"/>
          <p:nvPr/>
        </p:nvSpPr>
        <p:spPr>
          <a:xfrm>
            <a:off x="4663440" y="1097280"/>
            <a:ext cx="4023360" cy="228600"/>
          </a:xfrm>
          <a:prstGeom prst="rect">
            <a:avLst/>
          </a:prstGeom>
          <a:noFill/>
          <a:ln/>
        </p:spPr>
        <p:txBody>
          <a:bodyPr wrap="square" lIns="0" tIns="0" rIns="0" bIns="0" rtlCol="0" anchor="t"/>
          <a:lstStyle/>
          <a:p>
            <a:pPr indent="0" marL="0">
              <a:buNone/>
            </a:pPr>
            <a:r>
              <a:rPr lang="en-US" sz="1200" b="1" dirty="0">
                <a:solidFill>
                  <a:schemeClr val="accent2"/>
                </a:solidFill>
              </a:rPr>
              <a:t>FIX</a:t>
            </a:r>
            <a:endParaRPr lang="en-US" sz="1200" dirty="0"/>
          </a:p>
        </p:txBody>
      </p:sp>
      <p:sp>
        <p:nvSpPr>
          <p:cNvPr id="6" name="Problem 1"/>
          <p:cNvSpPr/>
          <p:nvPr/>
        </p:nvSpPr>
        <p:spPr>
          <a:xfrm>
            <a:off x="457200" y="1371600"/>
            <a:ext cx="3566160" cy="685800"/>
          </a:xfrm>
          <a:prstGeom prst="roundRect">
            <a:avLst>
              <a:gd name="adj" fmla="val 16000"/>
            </a:avLst>
          </a:prstGeom>
          <a:solidFill>
            <a:schemeClr val="bg2"/>
          </a:solidFill>
          <a:ln w="12700">
            <a:solidFill>
              <a:schemeClr val="accent4"/>
            </a:solidFill>
            <a:prstDash val="solid"/>
          </a:ln>
        </p:spPr>
      </p:sp>
      <p:sp>
        <p:nvSpPr>
          <p:cNvPr id="7" name="Body Hero video hidden be"/>
          <p:cNvSpPr txBox="1"/>
          <p:nvPr/>
        </p:nvSpPr>
        <p:spPr>
          <a:xfrm>
            <a:off x="640080" y="1444752"/>
            <a:ext cx="3200400" cy="548640"/>
          </a:xfrm>
          <a:prstGeom prst="rect">
            <a:avLst/>
          </a:prstGeom>
          <a:noFill/>
          <a:ln/>
        </p:spPr>
        <p:txBody>
          <a:bodyPr wrap="square" lIns="0" tIns="0" rIns="0" bIns="0" rtlCol="0" anchor="ctr"/>
          <a:lstStyle/>
          <a:p>
            <a:pPr indent="0" marL="0">
              <a:buNone/>
            </a:pPr>
            <a:r>
              <a:rPr lang="en-US" sz="1400" dirty="0">
                <a:solidFill>
                  <a:schemeClr val="tx1"/>
                </a:solidFill>
              </a:rPr>
              <a:t>Hero video hidden behind the page background</a:t>
            </a:r>
            <a:endParaRPr lang="en-US" sz="1400" dirty="0"/>
          </a:p>
        </p:txBody>
      </p:sp>
      <p:sp>
        <p:nvSpPr>
          <p:cNvPr id="8" name="Arrow 1 circle"/>
          <p:cNvSpPr/>
          <p:nvPr/>
        </p:nvSpPr>
        <p:spPr>
          <a:xfrm>
            <a:off x="4160520" y="1508760"/>
            <a:ext cx="411480" cy="411480"/>
          </a:xfrm>
          <a:prstGeom prst="ellipse">
            <a:avLst/>
          </a:prstGeom>
          <a:solidFill>
            <a:schemeClr val="accent2"/>
          </a:solidFill>
          <a:ln w="12700">
            <a:solidFill>
              <a:schemeClr val="accent2"/>
            </a:solidFill>
            <a:prstDash val="solid"/>
          </a:ln>
        </p:spPr>
      </p:sp>
      <p:pic>
        <p:nvPicPr>
          <p:cNvPr id="9" name="Arrow 1 icon" descr="Arrow 1">    </p:cNvPr>
          <p:cNvPicPr>
            <a:picLocks noChangeAspect="1"/>
          </p:cNvPicPr>
          <p:nvPr/>
        </p:nvPicPr>
        <p:blipFill>
          <a:blip r:embed="rId1"/>
          <a:stretch>
            <a:fillRect/>
          </a:stretch>
        </p:blipFill>
        <p:spPr>
          <a:xfrm>
            <a:off x="4263390" y="1611630"/>
            <a:ext cx="205740" cy="205740"/>
          </a:xfrm>
          <a:prstGeom prst="rect">
            <a:avLst/>
          </a:prstGeom>
        </p:spPr>
      </p:pic>
      <p:sp>
        <p:nvSpPr>
          <p:cNvPr id="10" name="Fix 1"/>
          <p:cNvSpPr/>
          <p:nvPr/>
        </p:nvSpPr>
        <p:spPr>
          <a:xfrm>
            <a:off x="4663440" y="1371600"/>
            <a:ext cx="4023360" cy="685800"/>
          </a:xfrm>
          <a:prstGeom prst="roundRect">
            <a:avLst>
              <a:gd name="adj" fmla="val 16000"/>
            </a:avLst>
          </a:prstGeom>
          <a:solidFill>
            <a:schemeClr val="accent5"/>
          </a:solidFill>
          <a:ln w="12700">
            <a:solidFill>
              <a:schemeClr val="accent4"/>
            </a:solidFill>
            <a:prstDash val="solid"/>
          </a:ln>
        </p:spPr>
      </p:sp>
      <p:sp>
        <p:nvSpPr>
          <p:cNvPr id="11" name="Body Added isolation and "/>
          <p:cNvSpPr txBox="1"/>
          <p:nvPr/>
        </p:nvSpPr>
        <p:spPr>
          <a:xfrm>
            <a:off x="4846320" y="1444752"/>
            <a:ext cx="3657600" cy="548640"/>
          </a:xfrm>
          <a:prstGeom prst="rect">
            <a:avLst/>
          </a:prstGeom>
          <a:noFill/>
          <a:ln/>
        </p:spPr>
        <p:txBody>
          <a:bodyPr wrap="square" lIns="0" tIns="0" rIns="0" bIns="0" rtlCol="0" anchor="ctr"/>
          <a:lstStyle/>
          <a:p>
            <a:pPr indent="0" marL="0">
              <a:buNone/>
            </a:pPr>
            <a:r>
              <a:rPr lang="en-US" sz="1400" dirty="0">
                <a:solidFill>
                  <a:schemeClr val="tx1"/>
                </a:solidFill>
              </a:rPr>
              <a:t>Added isolation and z-index layers so the video shows</a:t>
            </a:r>
            <a:endParaRPr lang="en-US" sz="1400" dirty="0"/>
          </a:p>
        </p:txBody>
      </p:sp>
      <p:sp>
        <p:nvSpPr>
          <p:cNvPr id="12" name="Problem 2"/>
          <p:cNvSpPr/>
          <p:nvPr/>
        </p:nvSpPr>
        <p:spPr>
          <a:xfrm>
            <a:off x="457200" y="2148840"/>
            <a:ext cx="3566160" cy="685800"/>
          </a:xfrm>
          <a:prstGeom prst="roundRect">
            <a:avLst>
              <a:gd name="adj" fmla="val 16000"/>
            </a:avLst>
          </a:prstGeom>
          <a:solidFill>
            <a:schemeClr val="bg2"/>
          </a:solidFill>
          <a:ln w="12700">
            <a:solidFill>
              <a:schemeClr val="accent4"/>
            </a:solidFill>
            <a:prstDash val="solid"/>
          </a:ln>
        </p:spPr>
      </p:sp>
      <p:sp>
        <p:nvSpPr>
          <p:cNvPr id="13" name="Body Image file names con"/>
          <p:cNvSpPr txBox="1"/>
          <p:nvPr/>
        </p:nvSpPr>
        <p:spPr>
          <a:xfrm>
            <a:off x="640080" y="2221992"/>
            <a:ext cx="3200400" cy="548640"/>
          </a:xfrm>
          <a:prstGeom prst="rect">
            <a:avLst/>
          </a:prstGeom>
          <a:noFill/>
          <a:ln/>
        </p:spPr>
        <p:txBody>
          <a:bodyPr wrap="square" lIns="0" tIns="0" rIns="0" bIns="0" rtlCol="0" anchor="ctr"/>
          <a:lstStyle/>
          <a:p>
            <a:pPr indent="0" marL="0">
              <a:buNone/>
            </a:pPr>
            <a:r>
              <a:rPr lang="en-US" sz="1400" dirty="0">
                <a:solidFill>
                  <a:schemeClr val="tx1"/>
                </a:solidFill>
              </a:rPr>
              <a:t>Image file names contain spaces</a:t>
            </a:r>
            <a:endParaRPr lang="en-US" sz="1400" dirty="0"/>
          </a:p>
        </p:txBody>
      </p:sp>
      <p:sp>
        <p:nvSpPr>
          <p:cNvPr id="14" name="Arrow 2 circle"/>
          <p:cNvSpPr/>
          <p:nvPr/>
        </p:nvSpPr>
        <p:spPr>
          <a:xfrm>
            <a:off x="4160520" y="2286000"/>
            <a:ext cx="411480" cy="411480"/>
          </a:xfrm>
          <a:prstGeom prst="ellipse">
            <a:avLst/>
          </a:prstGeom>
          <a:solidFill>
            <a:schemeClr val="accent2"/>
          </a:solidFill>
          <a:ln w="12700">
            <a:solidFill>
              <a:schemeClr val="accent2"/>
            </a:solidFill>
            <a:prstDash val="solid"/>
          </a:ln>
        </p:spPr>
      </p:sp>
      <p:pic>
        <p:nvPicPr>
          <p:cNvPr id="15" name="Arrow 2 icon" descr="Arrow 2">    </p:cNvPr>
          <p:cNvPicPr>
            <a:picLocks noChangeAspect="1"/>
          </p:cNvPicPr>
          <p:nvPr/>
        </p:nvPicPr>
        <p:blipFill>
          <a:blip r:embed="rId2"/>
          <a:stretch>
            <a:fillRect/>
          </a:stretch>
        </p:blipFill>
        <p:spPr>
          <a:xfrm>
            <a:off x="4263390" y="2388870"/>
            <a:ext cx="205740" cy="205740"/>
          </a:xfrm>
          <a:prstGeom prst="rect">
            <a:avLst/>
          </a:prstGeom>
        </p:spPr>
      </p:pic>
      <p:sp>
        <p:nvSpPr>
          <p:cNvPr id="16" name="Fix 2"/>
          <p:cNvSpPr/>
          <p:nvPr/>
        </p:nvSpPr>
        <p:spPr>
          <a:xfrm>
            <a:off x="4663440" y="2148840"/>
            <a:ext cx="4023360" cy="685800"/>
          </a:xfrm>
          <a:prstGeom prst="roundRect">
            <a:avLst>
              <a:gd name="adj" fmla="val 16000"/>
            </a:avLst>
          </a:prstGeom>
          <a:solidFill>
            <a:schemeClr val="accent5"/>
          </a:solidFill>
          <a:ln w="12700">
            <a:solidFill>
              <a:schemeClr val="accent4"/>
            </a:solidFill>
            <a:prstDash val="solid"/>
          </a:ln>
        </p:spPr>
      </p:sp>
      <p:sp>
        <p:nvSpPr>
          <p:cNvPr id="17" name="Body Names are encoded wi"/>
          <p:cNvSpPr txBox="1"/>
          <p:nvPr/>
        </p:nvSpPr>
        <p:spPr>
          <a:xfrm>
            <a:off x="4846320" y="2221992"/>
            <a:ext cx="3657600" cy="548640"/>
          </a:xfrm>
          <a:prstGeom prst="rect">
            <a:avLst/>
          </a:prstGeom>
          <a:noFill/>
          <a:ln/>
        </p:spPr>
        <p:txBody>
          <a:bodyPr wrap="square" lIns="0" tIns="0" rIns="0" bIns="0" rtlCol="0" anchor="ctr"/>
          <a:lstStyle/>
          <a:p>
            <a:pPr indent="0" marL="0">
              <a:buNone/>
            </a:pPr>
            <a:r>
              <a:rPr lang="en-US" sz="1400" dirty="0">
                <a:solidFill>
                  <a:schemeClr val="tx1"/>
                </a:solidFill>
              </a:rPr>
              <a:t>Names are encoded with encodeURI before loading</a:t>
            </a:r>
            <a:endParaRPr lang="en-US" sz="1400" dirty="0"/>
          </a:p>
        </p:txBody>
      </p:sp>
      <p:sp>
        <p:nvSpPr>
          <p:cNvPr id="18" name="Problem 3"/>
          <p:cNvSpPr/>
          <p:nvPr/>
        </p:nvSpPr>
        <p:spPr>
          <a:xfrm>
            <a:off x="457200" y="2926080"/>
            <a:ext cx="3566160" cy="685800"/>
          </a:xfrm>
          <a:prstGeom prst="roundRect">
            <a:avLst>
              <a:gd name="adj" fmla="val 16000"/>
            </a:avLst>
          </a:prstGeom>
          <a:solidFill>
            <a:schemeClr val="bg2"/>
          </a:solidFill>
          <a:ln w="12700">
            <a:solidFill>
              <a:schemeClr val="accent4"/>
            </a:solidFill>
            <a:prstDash val="solid"/>
          </a:ln>
        </p:spPr>
      </p:sp>
      <p:sp>
        <p:nvSpPr>
          <p:cNvPr id="19" name="Body A photo fails to loa"/>
          <p:cNvSpPr txBox="1"/>
          <p:nvPr/>
        </p:nvSpPr>
        <p:spPr>
          <a:xfrm>
            <a:off x="640080" y="2999232"/>
            <a:ext cx="3200400" cy="548640"/>
          </a:xfrm>
          <a:prstGeom prst="rect">
            <a:avLst/>
          </a:prstGeom>
          <a:noFill/>
          <a:ln/>
        </p:spPr>
        <p:txBody>
          <a:bodyPr wrap="square" lIns="0" tIns="0" rIns="0" bIns="0" rtlCol="0" anchor="ctr"/>
          <a:lstStyle/>
          <a:p>
            <a:pPr indent="0" marL="0">
              <a:buNone/>
            </a:pPr>
            <a:r>
              <a:rPr lang="en-US" sz="1400" dirty="0">
                <a:solidFill>
                  <a:schemeClr val="tx1"/>
                </a:solidFill>
              </a:rPr>
              <a:t>A photo fails to load</a:t>
            </a:r>
            <a:endParaRPr lang="en-US" sz="1400" dirty="0"/>
          </a:p>
        </p:txBody>
      </p:sp>
      <p:sp>
        <p:nvSpPr>
          <p:cNvPr id="20" name="Arrow 3 circle"/>
          <p:cNvSpPr/>
          <p:nvPr/>
        </p:nvSpPr>
        <p:spPr>
          <a:xfrm>
            <a:off x="4160520" y="3063240"/>
            <a:ext cx="411480" cy="411480"/>
          </a:xfrm>
          <a:prstGeom prst="ellipse">
            <a:avLst/>
          </a:prstGeom>
          <a:solidFill>
            <a:schemeClr val="accent2"/>
          </a:solidFill>
          <a:ln w="12700">
            <a:solidFill>
              <a:schemeClr val="accent2"/>
            </a:solidFill>
            <a:prstDash val="solid"/>
          </a:ln>
        </p:spPr>
      </p:sp>
      <p:pic>
        <p:nvPicPr>
          <p:cNvPr id="21" name="Arrow 3 icon" descr="Arrow 3">    </p:cNvPr>
          <p:cNvPicPr>
            <a:picLocks noChangeAspect="1"/>
          </p:cNvPicPr>
          <p:nvPr/>
        </p:nvPicPr>
        <p:blipFill>
          <a:blip r:embed="rId3"/>
          <a:stretch>
            <a:fillRect/>
          </a:stretch>
        </p:blipFill>
        <p:spPr>
          <a:xfrm>
            <a:off x="4263390" y="3166110"/>
            <a:ext cx="205740" cy="205740"/>
          </a:xfrm>
          <a:prstGeom prst="rect">
            <a:avLst/>
          </a:prstGeom>
        </p:spPr>
      </p:pic>
      <p:sp>
        <p:nvSpPr>
          <p:cNvPr id="22" name="Fix 3"/>
          <p:cNvSpPr/>
          <p:nvPr/>
        </p:nvSpPr>
        <p:spPr>
          <a:xfrm>
            <a:off x="4663440" y="2926080"/>
            <a:ext cx="4023360" cy="685800"/>
          </a:xfrm>
          <a:prstGeom prst="roundRect">
            <a:avLst>
              <a:gd name="adj" fmla="val 16000"/>
            </a:avLst>
          </a:prstGeom>
          <a:solidFill>
            <a:schemeClr val="accent5"/>
          </a:solidFill>
          <a:ln w="12700">
            <a:solidFill>
              <a:schemeClr val="accent4"/>
            </a:solidFill>
            <a:prstDash val="solid"/>
          </a:ln>
        </p:spPr>
      </p:sp>
      <p:sp>
        <p:nvSpPr>
          <p:cNvPr id="23" name="Body A neat &amp;apos;Image not fo"/>
          <p:cNvSpPr txBox="1"/>
          <p:nvPr/>
        </p:nvSpPr>
        <p:spPr>
          <a:xfrm>
            <a:off x="4846320" y="2999232"/>
            <a:ext cx="3657600" cy="548640"/>
          </a:xfrm>
          <a:prstGeom prst="rect">
            <a:avLst/>
          </a:prstGeom>
          <a:noFill/>
          <a:ln/>
        </p:spPr>
        <p:txBody>
          <a:bodyPr wrap="square" lIns="0" tIns="0" rIns="0" bIns="0" rtlCol="0" anchor="ctr"/>
          <a:lstStyle/>
          <a:p>
            <a:pPr indent="0" marL="0">
              <a:buNone/>
            </a:pPr>
            <a:r>
              <a:rPr lang="en-US" sz="1400" dirty="0">
                <a:solidFill>
                  <a:schemeClr val="tx1"/>
                </a:solidFill>
              </a:rPr>
              <a:t>A neat 'Image not found' card replaces the broken icon</a:t>
            </a:r>
            <a:endParaRPr lang="en-US" sz="1400" dirty="0"/>
          </a:p>
        </p:txBody>
      </p:sp>
      <p:sp>
        <p:nvSpPr>
          <p:cNvPr id="24" name="Problem 4"/>
          <p:cNvSpPr/>
          <p:nvPr/>
        </p:nvSpPr>
        <p:spPr>
          <a:xfrm>
            <a:off x="457200" y="3703320"/>
            <a:ext cx="3566160" cy="685800"/>
          </a:xfrm>
          <a:prstGeom prst="roundRect">
            <a:avLst>
              <a:gd name="adj" fmla="val 16000"/>
            </a:avLst>
          </a:prstGeom>
          <a:solidFill>
            <a:schemeClr val="bg2"/>
          </a:solidFill>
          <a:ln w="12700">
            <a:solidFill>
              <a:schemeClr val="accent4"/>
            </a:solidFill>
            <a:prstDash val="solid"/>
          </a:ln>
        </p:spPr>
      </p:sp>
      <p:sp>
        <p:nvSpPr>
          <p:cNvPr id="25" name="Body Browsers block autop"/>
          <p:cNvSpPr txBox="1"/>
          <p:nvPr/>
        </p:nvSpPr>
        <p:spPr>
          <a:xfrm>
            <a:off x="640080" y="3776472"/>
            <a:ext cx="3200400" cy="548640"/>
          </a:xfrm>
          <a:prstGeom prst="rect">
            <a:avLst/>
          </a:prstGeom>
          <a:noFill/>
          <a:ln/>
        </p:spPr>
        <p:txBody>
          <a:bodyPr wrap="square" lIns="0" tIns="0" rIns="0" bIns="0" rtlCol="0" anchor="ctr"/>
          <a:lstStyle/>
          <a:p>
            <a:pPr indent="0" marL="0">
              <a:buNone/>
            </a:pPr>
            <a:r>
              <a:rPr lang="en-US" sz="1400" dirty="0">
                <a:solidFill>
                  <a:schemeClr val="tx1"/>
                </a:solidFill>
              </a:rPr>
              <a:t>Browsers block autoplay video</a:t>
            </a:r>
            <a:endParaRPr lang="en-US" sz="1400" dirty="0"/>
          </a:p>
        </p:txBody>
      </p:sp>
      <p:sp>
        <p:nvSpPr>
          <p:cNvPr id="26" name="Arrow 4 circle"/>
          <p:cNvSpPr/>
          <p:nvPr/>
        </p:nvSpPr>
        <p:spPr>
          <a:xfrm>
            <a:off x="4160520" y="3840480"/>
            <a:ext cx="411480" cy="411480"/>
          </a:xfrm>
          <a:prstGeom prst="ellipse">
            <a:avLst/>
          </a:prstGeom>
          <a:solidFill>
            <a:schemeClr val="accent2"/>
          </a:solidFill>
          <a:ln w="12700">
            <a:solidFill>
              <a:schemeClr val="accent2"/>
            </a:solidFill>
            <a:prstDash val="solid"/>
          </a:ln>
        </p:spPr>
      </p:sp>
      <p:pic>
        <p:nvPicPr>
          <p:cNvPr id="27" name="Arrow 4 icon" descr="Arrow 4">    </p:cNvPr>
          <p:cNvPicPr>
            <a:picLocks noChangeAspect="1"/>
          </p:cNvPicPr>
          <p:nvPr/>
        </p:nvPicPr>
        <p:blipFill>
          <a:blip r:embed="rId4"/>
          <a:stretch>
            <a:fillRect/>
          </a:stretch>
        </p:blipFill>
        <p:spPr>
          <a:xfrm>
            <a:off x="4263390" y="3943350"/>
            <a:ext cx="205740" cy="205740"/>
          </a:xfrm>
          <a:prstGeom prst="rect">
            <a:avLst/>
          </a:prstGeom>
        </p:spPr>
      </p:pic>
      <p:sp>
        <p:nvSpPr>
          <p:cNvPr id="28" name="Fix 4"/>
          <p:cNvSpPr/>
          <p:nvPr/>
        </p:nvSpPr>
        <p:spPr>
          <a:xfrm>
            <a:off x="4663440" y="3703320"/>
            <a:ext cx="4023360" cy="685800"/>
          </a:xfrm>
          <a:prstGeom prst="roundRect">
            <a:avLst>
              <a:gd name="adj" fmla="val 16000"/>
            </a:avLst>
          </a:prstGeom>
          <a:solidFill>
            <a:schemeClr val="accent5"/>
          </a:solidFill>
          <a:ln w="12700">
            <a:solidFill>
              <a:schemeClr val="accent4"/>
            </a:solidFill>
            <a:prstDash val="solid"/>
          </a:ln>
        </p:spPr>
      </p:sp>
      <p:sp>
        <p:nvSpPr>
          <p:cNvPr id="29" name="Body Video is muted and p"/>
          <p:cNvSpPr txBox="1"/>
          <p:nvPr/>
        </p:nvSpPr>
        <p:spPr>
          <a:xfrm>
            <a:off x="4846320" y="3776472"/>
            <a:ext cx="3657600" cy="548640"/>
          </a:xfrm>
          <a:prstGeom prst="rect">
            <a:avLst/>
          </a:prstGeom>
          <a:noFill/>
          <a:ln/>
        </p:spPr>
        <p:txBody>
          <a:bodyPr wrap="square" lIns="0" tIns="0" rIns="0" bIns="0" rtlCol="0" anchor="ctr"/>
          <a:lstStyle/>
          <a:p>
            <a:pPr indent="0" marL="0">
              <a:buNone/>
            </a:pPr>
            <a:r>
              <a:rPr lang="en-US" sz="1400" dirty="0">
                <a:solidFill>
                  <a:schemeClr val="tx1"/>
                </a:solidFill>
              </a:rPr>
              <a:t>Video is muted and play() is retried by script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13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450"/>
                                        <p:tgtEl>
                                          <p:spTgt spid="4"/>
                                        </p:tgtEl>
                                      </p:cBhvr>
                                    </p:animEffect>
                                  </p:childTnLst>
                                </p:cTn>
                              </p:par>
                            </p:childTnLst>
                          </p:cTn>
                        </p:par>
                        <p:par>
                          <p:cTn id="12" fill="hold">
                            <p:stCondLst>
                              <p:cond delay="104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childTnLst>
                          </p:cTn>
                        </p:par>
                        <p:par>
                          <p:cTn id="16" fill="hold">
                            <p:stCondLst>
                              <p:cond delay="156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childTnLst>
                          </p:cTn>
                        </p:par>
                        <p:par>
                          <p:cTn id="29" fill="hold">
                            <p:stCondLst>
                              <p:cond delay="208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childTnLst>
                                </p:cTn>
                              </p:par>
                            </p:childTnLst>
                          </p:cTn>
                        </p:par>
                        <p:par>
                          <p:cTn id="36" fill="hold">
                            <p:stCondLst>
                              <p:cond delay="26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50"/>
                                        <p:tgtEl>
                                          <p:spTgt spid="1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50"/>
                                        <p:tgtEl>
                                          <p:spTgt spid="15"/>
                                        </p:tgtEl>
                                      </p:cBhvr>
                                    </p:animEffect>
                                  </p:childTnLst>
                                </p:cTn>
                              </p:par>
                            </p:childTnLst>
                          </p:cTn>
                        </p:par>
                        <p:par>
                          <p:cTn id="49" fill="hold">
                            <p:stCondLst>
                              <p:cond delay="3120"/>
                            </p:stCondLst>
                            <p:childTnLst>
                              <p:par>
                                <p:cTn id="50" presetID="10"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45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450"/>
                                        <p:tgtEl>
                                          <p:spTgt spid="17"/>
                                        </p:tgtEl>
                                      </p:cBhvr>
                                    </p:animEffect>
                                  </p:childTnLst>
                                </p:cTn>
                              </p:par>
                            </p:childTnLst>
                          </p:cTn>
                        </p:par>
                        <p:par>
                          <p:cTn id="56" fill="hold">
                            <p:stCondLst>
                              <p:cond delay="3640"/>
                            </p:stCondLst>
                            <p:childTnLst>
                              <p:par>
                                <p:cTn id="57" presetID="10"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45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45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45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450"/>
                                        <p:tgtEl>
                                          <p:spTgt spid="21"/>
                                        </p:tgtEl>
                                      </p:cBhvr>
                                    </p:animEffect>
                                  </p:childTnLst>
                                </p:cTn>
                              </p:par>
                            </p:childTnLst>
                          </p:cTn>
                        </p:par>
                        <p:par>
                          <p:cTn id="69" fill="hold">
                            <p:stCondLst>
                              <p:cond delay="4160"/>
                            </p:stCondLst>
                            <p:childTnLst>
                              <p:par>
                                <p:cTn id="70" presetID="10" presetClass="entr" presetSubtype="0" fill="hold" grpId="0" nodeType="after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450"/>
                                        <p:tgtEl>
                                          <p:spTgt spid="2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450"/>
                                        <p:tgtEl>
                                          <p:spTgt spid="23"/>
                                        </p:tgtEl>
                                      </p:cBhvr>
                                    </p:animEffect>
                                  </p:childTnLst>
                                </p:cTn>
                              </p:par>
                            </p:childTnLst>
                          </p:cTn>
                        </p:par>
                        <p:par>
                          <p:cTn id="76" fill="hold">
                            <p:stCondLst>
                              <p:cond delay="4680"/>
                            </p:stCondLst>
                            <p:childTnLst>
                              <p:par>
                                <p:cTn id="77" presetID="10" presetClass="entr" presetSubtype="0" fill="hold" grpId="0"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50"/>
                                        <p:tgtEl>
                                          <p:spTgt spid="2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450"/>
                                        <p:tgtEl>
                                          <p:spTgt spid="2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450"/>
                                        <p:tgtEl>
                                          <p:spTgt spid="2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450"/>
                                        <p:tgtEl>
                                          <p:spTgt spid="27"/>
                                        </p:tgtEl>
                                      </p:cBhvr>
                                    </p:animEffect>
                                  </p:childTnLst>
                                </p:cTn>
                              </p:par>
                            </p:childTnLst>
                          </p:cTn>
                        </p:par>
                        <p:par>
                          <p:cTn id="89" fill="hold">
                            <p:stCondLst>
                              <p:cond delay="5200"/>
                            </p:stCondLst>
                            <p:childTnLst>
                              <p:par>
                                <p:cTn id="90" presetID="10" presetClass="entr" presetSubtype="0" fill="hold" grpId="0" nodeType="after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450"/>
                                        <p:tgtEl>
                                          <p:spTgt spid="2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7498080" cy="777240"/>
          </a:xfrm>
          <a:prstGeom prst="rect">
            <a:avLst/>
          </a:prstGeom>
          <a:noFill/>
          <a:ln/>
        </p:spPr>
        <p:txBody>
          <a:bodyPr wrap="square" lIns="0" tIns="0" rIns="0" bIns="0" rtlCol="0" anchor="ctr"/>
          <a:lstStyle/>
          <a:p>
            <a:pPr algn="l" indent="0" marL="0">
              <a:buNone/>
            </a:pPr>
            <a:r>
              <a:rPr lang="en-US" sz="3600" b="1" dirty="0">
                <a:solidFill>
                  <a:schemeClr val="accent3"/>
                </a:solidFill>
              </a:rPr>
              <a:t>What is this demo?</a:t>
            </a:r>
            <a:endParaRPr lang="en-US" sz="3600" dirty="0"/>
          </a:p>
        </p:txBody>
      </p:sp>
      <p:sp>
        <p:nvSpPr>
          <p:cNvPr id="4" name="Real card"/>
          <p:cNvSpPr/>
          <p:nvPr/>
        </p:nvSpPr>
        <p:spPr>
          <a:xfrm>
            <a:off x="457200" y="1234440"/>
            <a:ext cx="4023360" cy="2240280"/>
          </a:xfrm>
          <a:prstGeom prst="roundRect">
            <a:avLst>
              <a:gd name="adj" fmla="val 4898"/>
            </a:avLst>
          </a:prstGeom>
          <a:solidFill>
            <a:schemeClr val="bg2"/>
          </a:solidFill>
          <a:ln w="12700">
            <a:solidFill>
              <a:schemeClr val="accent4"/>
            </a:solidFill>
            <a:prstDash val="solid"/>
          </a:ln>
        </p:spPr>
      </p:sp>
      <p:sp>
        <p:nvSpPr>
          <p:cNvPr id="5" name="Real circle"/>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6" name="Real icon" descr="Real">    </p:cNvPr>
          <p:cNvPicPr>
            <a:picLocks noChangeAspect="1"/>
          </p:cNvPicPr>
          <p:nvPr/>
        </p:nvPicPr>
        <p:blipFill>
          <a:blip r:embed="rId1"/>
          <a:stretch>
            <a:fillRect/>
          </a:stretch>
        </p:blipFill>
        <p:spPr>
          <a:xfrm>
            <a:off x="754380" y="1485900"/>
            <a:ext cx="228600" cy="228600"/>
          </a:xfrm>
          <a:prstGeom prst="rect">
            <a:avLst/>
          </a:prstGeom>
        </p:spPr>
      </p:pic>
      <p:sp>
        <p:nvSpPr>
          <p:cNvPr id="7" name="Heading Works for real"/>
          <p:cNvSpPr txBox="1"/>
          <p:nvPr/>
        </p:nvSpPr>
        <p:spPr>
          <a:xfrm>
            <a:off x="1234440" y="1371600"/>
            <a:ext cx="3108960" cy="457200"/>
          </a:xfrm>
          <a:prstGeom prst="rect">
            <a:avLst/>
          </a:prstGeom>
          <a:noFill/>
          <a:ln/>
        </p:spPr>
        <p:txBody>
          <a:bodyPr wrap="square" lIns="0" tIns="0" rIns="0" bIns="0" rtlCol="0" anchor="ctr"/>
          <a:lstStyle/>
          <a:p>
            <a:pPr indent="0" marL="0">
              <a:buNone/>
            </a:pPr>
            <a:r>
              <a:rPr lang="en-US" sz="1600" b="1" dirty="0">
                <a:solidFill>
                  <a:schemeClr val="accent3"/>
                </a:solidFill>
              </a:rPr>
              <a:t>Works for real</a:t>
            </a:r>
            <a:endParaRPr lang="en-US" sz="1600" dirty="0"/>
          </a:p>
        </p:txBody>
      </p:sp>
      <p:sp>
        <p:nvSpPr>
          <p:cNvPr id="8" name="Bullets"/>
          <p:cNvSpPr txBox="1"/>
          <p:nvPr/>
        </p:nvSpPr>
        <p:spPr>
          <a:xfrm>
            <a:off x="685800" y="201168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Navigation, filters and the 3D fish</a:t>
            </a:r>
            <a:endParaRPr lang="en-US" sz="1400" dirty="0"/>
          </a:p>
          <a:p>
            <a:pPr marL="342900" indent="-342900">
              <a:spcAft>
                <a:spcPts val="600"/>
              </a:spcAft>
              <a:buSzPct val="100000"/>
              <a:buChar char="•"/>
            </a:pPr>
            <a:r>
              <a:rPr lang="en-US" sz="1400" dirty="0">
                <a:solidFill>
                  <a:schemeClr val="tx1"/>
                </a:solidFill>
              </a:rPr>
              <a:t>Form checks and price total</a:t>
            </a:r>
            <a:endParaRPr lang="en-US" sz="1400" dirty="0"/>
          </a:p>
          <a:p>
            <a:pPr marL="342900" indent="-342900">
              <a:spcAft>
                <a:spcPts val="600"/>
              </a:spcAft>
              <a:buSzPct val="100000"/>
              <a:buChar char="•"/>
            </a:pPr>
            <a:r>
              <a:rPr lang="en-US" sz="1400" dirty="0">
                <a:solidFill>
                  <a:schemeClr val="tx1"/>
                </a:solidFill>
              </a:rPr>
              <a:t>Responsive, accessible layout</a:t>
            </a:r>
            <a:endParaRPr lang="en-US" sz="1400" dirty="0"/>
          </a:p>
        </p:txBody>
      </p:sp>
      <p:sp>
        <p:nvSpPr>
          <p:cNvPr id="9" name="Simulated card"/>
          <p:cNvSpPr/>
          <p:nvPr/>
        </p:nvSpPr>
        <p:spPr>
          <a:xfrm>
            <a:off x="4663440" y="1234440"/>
            <a:ext cx="4023360" cy="2240280"/>
          </a:xfrm>
          <a:prstGeom prst="roundRect">
            <a:avLst>
              <a:gd name="adj" fmla="val 4898"/>
            </a:avLst>
          </a:prstGeom>
          <a:solidFill>
            <a:schemeClr val="bg2"/>
          </a:solidFill>
          <a:ln w="12700">
            <a:solidFill>
              <a:schemeClr val="accent4"/>
            </a:solidFill>
            <a:prstDash val="solid"/>
          </a:ln>
        </p:spPr>
      </p:sp>
      <p:sp>
        <p:nvSpPr>
          <p:cNvPr id="10" name="Simulated circle"/>
          <p:cNvSpPr/>
          <p:nvPr/>
        </p:nvSpPr>
        <p:spPr>
          <a:xfrm>
            <a:off x="4846320" y="1371600"/>
            <a:ext cx="457200" cy="457200"/>
          </a:xfrm>
          <a:prstGeom prst="ellipse">
            <a:avLst/>
          </a:prstGeom>
          <a:solidFill>
            <a:schemeClr val="accent2"/>
          </a:solidFill>
          <a:ln w="12700">
            <a:solidFill>
              <a:schemeClr val="accent2"/>
            </a:solidFill>
            <a:prstDash val="solid"/>
          </a:ln>
        </p:spPr>
      </p:sp>
      <p:pic>
        <p:nvPicPr>
          <p:cNvPr id="11" name="Simulated icon" descr="Simulated">    </p:cNvPr>
          <p:cNvPicPr>
            <a:picLocks noChangeAspect="1"/>
          </p:cNvPicPr>
          <p:nvPr/>
        </p:nvPicPr>
        <p:blipFill>
          <a:blip r:embed="rId2"/>
          <a:stretch>
            <a:fillRect/>
          </a:stretch>
        </p:blipFill>
        <p:spPr>
          <a:xfrm>
            <a:off x="4960620" y="1485900"/>
            <a:ext cx="228600" cy="228600"/>
          </a:xfrm>
          <a:prstGeom prst="rect">
            <a:avLst/>
          </a:prstGeom>
        </p:spPr>
      </p:pic>
      <p:sp>
        <p:nvSpPr>
          <p:cNvPr id="12" name="Heading Simulated only"/>
          <p:cNvSpPr txBox="1"/>
          <p:nvPr/>
        </p:nvSpPr>
        <p:spPr>
          <a:xfrm>
            <a:off x="5440680" y="1371600"/>
            <a:ext cx="3108960" cy="457200"/>
          </a:xfrm>
          <a:prstGeom prst="rect">
            <a:avLst/>
          </a:prstGeom>
          <a:noFill/>
          <a:ln/>
        </p:spPr>
        <p:txBody>
          <a:bodyPr wrap="square" lIns="0" tIns="0" rIns="0" bIns="0" rtlCol="0" anchor="ctr"/>
          <a:lstStyle/>
          <a:p>
            <a:pPr indent="0" marL="0">
              <a:buNone/>
            </a:pPr>
            <a:r>
              <a:rPr lang="en-US" sz="1600" b="1" dirty="0">
                <a:solidFill>
                  <a:schemeClr val="accent3"/>
                </a:solidFill>
              </a:rPr>
              <a:t>Simulated only</a:t>
            </a:r>
            <a:endParaRPr lang="en-US" sz="1600" dirty="0"/>
          </a:p>
        </p:txBody>
      </p:sp>
      <p:sp>
        <p:nvSpPr>
          <p:cNvPr id="13" name="Bullets"/>
          <p:cNvSpPr txBox="1"/>
          <p:nvPr/>
        </p:nvSpPr>
        <p:spPr>
          <a:xfrm>
            <a:off x="4892040" y="201168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payment is taken</a:t>
            </a:r>
            <a:endParaRPr lang="en-US" sz="1400" dirty="0"/>
          </a:p>
          <a:p>
            <a:pPr marL="342900" indent="-342900">
              <a:spcAft>
                <a:spcPts val="600"/>
              </a:spcAft>
              <a:buSzPct val="100000"/>
              <a:buChar char="•"/>
            </a:pPr>
            <a:r>
              <a:rPr lang="en-US" sz="1400" dirty="0">
                <a:solidFill>
                  <a:schemeClr val="tx1"/>
                </a:solidFill>
              </a:rPr>
              <a:t>No confirmation email is sent</a:t>
            </a:r>
            <a:endParaRPr lang="en-US" sz="1400" dirty="0"/>
          </a:p>
          <a:p>
            <a:pPr marL="342900" indent="-342900">
              <a:spcAft>
                <a:spcPts val="600"/>
              </a:spcAft>
              <a:buSzPct val="100000"/>
              <a:buChar char="•"/>
            </a:pPr>
            <a:r>
              <a:rPr lang="en-US" sz="1400" dirty="0">
                <a:solidFill>
                  <a:schemeClr val="tx1"/>
                </a:solidFill>
              </a:rPr>
              <a:t>Reviews are sample feedback</a:t>
            </a:r>
            <a:endParaRPr lang="en-US" sz="1400" dirty="0"/>
          </a:p>
          <a:p>
            <a:pPr marL="342900" indent="-342900">
              <a:spcAft>
                <a:spcPts val="600"/>
              </a:spcAft>
              <a:buSzPct val="100000"/>
              <a:buChar char="•"/>
            </a:pPr>
            <a:r>
              <a:rPr lang="en-US" sz="1400" dirty="0">
                <a:solidFill>
                  <a:schemeClr val="tx1"/>
                </a:solidFill>
              </a:rPr>
              <a:t>Bookings are not saved</a:t>
            </a:r>
            <a:endParaRPr lang="en-US" sz="1400" dirty="0"/>
          </a:p>
        </p:txBody>
      </p:sp>
      <p:sp>
        <p:nvSpPr>
          <p:cNvPr id="14" name="Next steps card"/>
          <p:cNvSpPr/>
          <p:nvPr/>
        </p:nvSpPr>
        <p:spPr>
          <a:xfrm>
            <a:off x="457200" y="3611880"/>
            <a:ext cx="8229600" cy="960120"/>
          </a:xfrm>
          <a:prstGeom prst="roundRect">
            <a:avLst>
              <a:gd name="adj" fmla="val 11429"/>
            </a:avLst>
          </a:prstGeom>
          <a:solidFill>
            <a:schemeClr val="accent5"/>
          </a:solidFill>
          <a:ln w="12700">
            <a:solidFill>
              <a:schemeClr val="accent4"/>
            </a:solidFill>
            <a:prstDash val="solid"/>
          </a:ln>
        </p:spPr>
      </p:sp>
      <p:sp>
        <p:nvSpPr>
          <p:cNvPr id="15" name="Heading Next steps"/>
          <p:cNvSpPr txBox="1"/>
          <p:nvPr/>
        </p:nvSpPr>
        <p:spPr>
          <a:xfrm>
            <a:off x="685800" y="3685032"/>
            <a:ext cx="2743200" cy="320040"/>
          </a:xfrm>
          <a:prstGeom prst="rect">
            <a:avLst/>
          </a:prstGeom>
          <a:noFill/>
          <a:ln/>
        </p:spPr>
        <p:txBody>
          <a:bodyPr wrap="square" lIns="0" tIns="0" rIns="0" bIns="0" rtlCol="0" anchor="ctr"/>
          <a:lstStyle/>
          <a:p>
            <a:pPr indent="0" marL="0">
              <a:buNone/>
            </a:pPr>
            <a:r>
              <a:rPr lang="en-US" sz="1600" b="1" dirty="0">
                <a:solidFill>
                  <a:schemeClr val="accent3"/>
                </a:solidFill>
              </a:rPr>
              <a:t>Next steps</a:t>
            </a:r>
            <a:endParaRPr lang="en-US" sz="1600" dirty="0"/>
          </a:p>
        </p:txBody>
      </p:sp>
      <p:sp>
        <p:nvSpPr>
          <p:cNvPr id="16" name="Body Add a backend and da"/>
          <p:cNvSpPr txBox="1"/>
          <p:nvPr/>
        </p:nvSpPr>
        <p:spPr>
          <a:xfrm>
            <a:off x="685800" y="4023360"/>
            <a:ext cx="7772400" cy="457200"/>
          </a:xfrm>
          <a:prstGeom prst="rect">
            <a:avLst/>
          </a:prstGeom>
          <a:noFill/>
          <a:ln/>
        </p:spPr>
        <p:txBody>
          <a:bodyPr wrap="square" lIns="0" tIns="0" rIns="0" bIns="0" rtlCol="0" anchor="t"/>
          <a:lstStyle/>
          <a:p>
            <a:pPr indent="0" marL="0">
              <a:buNone/>
            </a:pPr>
            <a:r>
              <a:rPr lang="en-US" sz="1400" dirty="0">
                <a:solidFill>
                  <a:schemeClr val="tx1"/>
                </a:solidFill>
              </a:rPr>
              <a:t>Add a backend and database, online payment, live ticket availability, real photos and more languages.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3AAAA"/>
                </a:solidFill>
              </a:defRPr>
            </a:lvl1pPr>
          </a:lstStyle>
          <a:p>
            <a:pPr algn="r"/>
            <a:fld id="{F7021451-1387-4CA6-816F-3879F97B5CBC}" type="slidenum">
              <a:rPr b="0" lang="en-US"/>
              <a:t>14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104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par>
                          <p:cTn id="40" fill="hold">
                            <p:stCondLst>
                              <p:cond delay="1560"/>
                            </p:stCondLst>
                            <p:childTnLst>
                              <p:par>
                                <p:cTn id="41" presetID="10"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640080" y="1371600"/>
            <a:ext cx="4572000" cy="1188720"/>
          </a:xfrm>
          <a:prstGeom prst="rect">
            <a:avLst/>
          </a:prstGeom>
          <a:noFill/>
          <a:ln/>
        </p:spPr>
        <p:txBody>
          <a:bodyPr wrap="square" lIns="0" tIns="0" rIns="0" bIns="0" rtlCol="0" anchor="ctr"/>
          <a:lstStyle/>
          <a:p>
            <a:pPr algn="l" indent="0" marL="0">
              <a:buNone/>
            </a:pPr>
            <a:r>
              <a:rPr lang="en-US" sz="4800" b="1" dirty="0">
                <a:solidFill>
                  <a:schemeClr val="tx1"/>
                </a:solidFill>
              </a:rPr>
              <a:t>Thank you</a:t>
            </a:r>
            <a:endParaRPr lang="en-US" sz="4800" dirty="0"/>
          </a:p>
        </p:txBody>
      </p:sp>
      <p:sp>
        <p:nvSpPr>
          <p:cNvPr id="4" name="Logo halo"/>
          <p:cNvSpPr/>
          <p:nvPr/>
        </p:nvSpPr>
        <p:spPr>
          <a:xfrm>
            <a:off x="5394960" y="777240"/>
            <a:ext cx="3566160" cy="3566160"/>
          </a:xfrm>
          <a:prstGeom prst="ellipse">
            <a:avLst/>
          </a:prstGeom>
          <a:solidFill>
            <a:schemeClr val="accent5"/>
          </a:solidFill>
          <a:ln w="12700">
            <a:solidFill>
              <a:schemeClr val="accent4"/>
            </a:solidFill>
            <a:prstDash val="solid"/>
          </a:ln>
        </p:spPr>
      </p:sp>
      <p:pic>
        <p:nvPicPr>
          <p:cNvPr id="5" name="Nexus Aquarium logo" descr="Nexus Aquarium logo">    </p:cNvPr>
          <p:cNvPicPr>
            <a:picLocks noChangeAspect="1"/>
          </p:cNvPicPr>
          <p:nvPr/>
        </p:nvPicPr>
        <p:blipFill>
          <a:blip r:embed="rId1"/>
          <a:stretch>
            <a:fillRect/>
          </a:stretch>
        </p:blipFill>
        <p:spPr>
          <a:xfrm>
            <a:off x="5852160" y="1234440"/>
            <a:ext cx="2651760" cy="2651760"/>
          </a:xfrm>
          <a:prstGeom prst="rect">
            <a:avLst/>
          </a:prstGeom>
        </p:spPr>
      </p:pic>
      <p:sp>
        <p:nvSpPr>
          <p:cNvPr id="6" name="Body Any questions?"/>
          <p:cNvSpPr txBox="1"/>
          <p:nvPr/>
        </p:nvSpPr>
        <p:spPr>
          <a:xfrm>
            <a:off x="640080" y="2697480"/>
            <a:ext cx="4572000" cy="365760"/>
          </a:xfrm>
          <a:prstGeom prst="rect">
            <a:avLst/>
          </a:prstGeom>
          <a:noFill/>
          <a:ln/>
        </p:spPr>
        <p:txBody>
          <a:bodyPr wrap="square" lIns="0" tIns="0" rIns="0" bIns="0" rtlCol="0" anchor="t"/>
          <a:lstStyle/>
          <a:p>
            <a:pPr indent="0" marL="0">
              <a:buNone/>
            </a:pPr>
            <a:r>
              <a:rPr lang="en-US" sz="2000" b="1" dirty="0">
                <a:solidFill>
                  <a:schemeClr val="accent2"/>
                </a:solidFill>
              </a:rPr>
              <a:t>Any questions?</a:t>
            </a:r>
            <a:endParaRPr lang="en-US" sz="2000" dirty="0"/>
          </a:p>
        </p:txBody>
      </p:sp>
      <p:sp>
        <p:nvSpPr>
          <p:cNvPr id="7" name="Body Nexus Aquarium, Wash"/>
          <p:cNvSpPr txBox="1"/>
          <p:nvPr/>
        </p:nvSpPr>
        <p:spPr>
          <a:xfrm>
            <a:off x="640080" y="3108960"/>
            <a:ext cx="4389120" cy="365760"/>
          </a:xfrm>
          <a:prstGeom prst="rect">
            <a:avLst/>
          </a:prstGeom>
          <a:noFill/>
          <a:ln/>
        </p:spPr>
        <p:txBody>
          <a:bodyPr wrap="square" lIns="0" tIns="0" rIns="0" bIns="0" rtlCol="0" anchor="t"/>
          <a:lstStyle/>
          <a:p>
            <a:pPr indent="0" marL="0">
              <a:buNone/>
            </a:pPr>
            <a:r>
              <a:rPr lang="en-US" sz="1600" dirty="0">
                <a:solidFill>
                  <a:schemeClr val="tx2"/>
                </a:solidFill>
              </a:rPr>
              <a:t>Nexus Aquarium, Washington, USA</a:t>
            </a:r>
            <a:endParaRPr lang="en-US" sz="1600" dirty="0"/>
          </a:p>
        </p:txBody>
      </p:sp>
      <p:sp>
        <p:nvSpPr>
          <p:cNvPr id="8" name="Body Javeria, Hira and Ma"/>
          <p:cNvSpPr txBox="1"/>
          <p:nvPr/>
        </p:nvSpPr>
        <p:spPr>
          <a:xfrm>
            <a:off x="640080" y="4023360"/>
            <a:ext cx="4572000" cy="320040"/>
          </a:xfrm>
          <a:prstGeom prst="rect">
            <a:avLst/>
          </a:prstGeom>
          <a:noFill/>
          <a:ln/>
        </p:spPr>
        <p:txBody>
          <a:bodyPr wrap="square" lIns="0" tIns="0" rIns="0" bIns="0" rtlCol="0" anchor="t"/>
          <a:lstStyle/>
          <a:p>
            <a:pPr indent="0" marL="0">
              <a:buNone/>
            </a:pPr>
            <a:r>
              <a:rPr lang="en-US" sz="1400" dirty="0">
                <a:solidFill>
                  <a:schemeClr val="tx1"/>
                </a:solidFill>
              </a:rPr>
              <a:t>Javeria, Hira and Manahil</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5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childTnLst>
                          </p:cTn>
                        </p:par>
                        <p:par>
                          <p:cTn id="15" fill="hold">
                            <p:stCondLst>
                              <p:cond delay="104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450"/>
                                        <p:tgtEl>
                                          <p:spTgt spid="6"/>
                                        </p:tgtEl>
                                      </p:cBhvr>
                                    </p:animEffect>
                                  </p:childTnLst>
                                </p:cTn>
                              </p:par>
                            </p:childTnLst>
                          </p:cTn>
                        </p:par>
                        <p:par>
                          <p:cTn id="19" fill="hold">
                            <p:stCondLst>
                              <p:cond delay="1560"/>
                            </p:stCondLst>
                            <p:childTnLst>
                              <p:par>
                                <p:cTn id="20" presetID="22" presetClass="entr" presetSubtype="8"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450"/>
                                        <p:tgtEl>
                                          <p:spTgt spid="7"/>
                                        </p:tgtEl>
                                      </p:cBhvr>
                                    </p:animEffect>
                                  </p:childTnLst>
                                </p:cTn>
                              </p:par>
                            </p:childTnLst>
                          </p:cTn>
                        </p:par>
                        <p:par>
                          <p:cTn id="23" fill="hold">
                            <p:stCondLst>
                              <p:cond delay="2080"/>
                            </p:stCondLst>
                            <p:childTnLst>
                              <p:par>
                                <p:cTn id="24" presetID="22" presetClass="entr" presetSubtype="8"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Lst>
  </p:timing>
</p:sld>
</file>

<file path=ppt/theme/theme1.xml><?xml version="1.0" encoding="utf-8"?>
<a:theme xmlns:a="http://schemas.openxmlformats.org/drawingml/2006/main" name="Nexus Aquarium">
  <a:themeElements>
    <a:clrScheme name="Nexus Aquarium">
      <a:dk1>
        <a:srgbClr val="D8F3F3"/>
      </a:dk1>
      <a:lt1>
        <a:srgbClr val="041B1B"/>
      </a:lt1>
      <a:dk2>
        <a:srgbClr val="83AAAA"/>
      </a:dk2>
      <a:lt2>
        <a:srgbClr val="082727"/>
      </a:lt2>
      <a:accent1>
        <a:srgbClr val="008080"/>
      </a:accent1>
      <a:accent2>
        <a:srgbClr val="F28C38"/>
      </a:accent2>
      <a:accent3>
        <a:srgbClr val="4FB8B8"/>
      </a:accent3>
      <a:accent4>
        <a:srgbClr val="164747"/>
      </a:accent4>
      <a:accent5>
        <a:srgbClr val="0B3D3D"/>
      </a:accent5>
      <a:accent6>
        <a:srgbClr val="B2E6E6"/>
      </a:accent6>
      <a:hlink>
        <a:srgbClr val="4FB8B8"/>
      </a:hlink>
      <a:folHlink>
        <a:srgbClr val="83AAAA"/>
      </a:folHlink>
    </a:clrScheme>
    <a:fontScheme name="Nexus Aquari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 Aquarium - Website Project</dc:title>
  <dc:subject>PptxGenJS Presentation</dc:subject>
  <dc:creator>Javeria, Hira and Manahil</dc:creator>
  <cp:lastModifiedBy>Javeria, Hira and Manahil</cp:lastModifiedBy>
  <cp:revision>1</cp:revision>
  <dcterms:created xsi:type="dcterms:W3CDTF">2026-10-04T19:28:48Z</dcterms:created>
  <dcterms:modified xsi:type="dcterms:W3CDTF">2026-10-04T19:28:48Z</dcterms:modified>
</cp:coreProperties>
</file>